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7" r:id="rId2"/>
    <p:sldId id="268" r:id="rId3"/>
    <p:sldId id="284" r:id="rId4"/>
    <p:sldId id="302" r:id="rId5"/>
    <p:sldId id="303" r:id="rId6"/>
    <p:sldId id="269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95C"/>
    <a:srgbClr val="028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19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4138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53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154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87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084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C19A3A-8540-45AB-80CF-3967564A1FB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76CFEE-36C4-4A0C-BC89-DCE02F99B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0040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 rot="21134459">
            <a:off x="7028268" y="4232961"/>
            <a:ext cx="1495823" cy="2338134"/>
            <a:chOff x="3344154" y="4171480"/>
            <a:chExt cx="1600996" cy="2500151"/>
          </a:xfrm>
        </p:grpSpPr>
        <p:sp>
          <p:nvSpPr>
            <p:cNvPr id="10" name="Rectangle 9"/>
            <p:cNvSpPr/>
            <p:nvPr/>
          </p:nvSpPr>
          <p:spPr>
            <a:xfrm rot="19506721">
              <a:off x="4100749" y="4548952"/>
              <a:ext cx="844401" cy="212267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 rot="19506721">
              <a:off x="3344154" y="4171480"/>
              <a:ext cx="573276" cy="3311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19506721">
              <a:off x="3457267" y="4434648"/>
              <a:ext cx="740564" cy="33392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228492" y="1535724"/>
            <a:ext cx="5978769" cy="2696308"/>
            <a:chOff x="1242642" y="1758463"/>
            <a:chExt cx="5779480" cy="2332892"/>
          </a:xfrm>
        </p:grpSpPr>
        <p:sp>
          <p:nvSpPr>
            <p:cNvPr id="4" name="Round Same Side Corner Rectangle 3"/>
            <p:cNvSpPr/>
            <p:nvPr/>
          </p:nvSpPr>
          <p:spPr>
            <a:xfrm rot="5400000">
              <a:off x="3716217" y="-597878"/>
              <a:ext cx="574429" cy="52871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r"/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Enter your text </a:t>
              </a:r>
              <a:r>
                <a:rPr lang="en-US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here</a:t>
              </a:r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ound Same Side Corner Rectangle 4"/>
            <p:cNvSpPr/>
            <p:nvPr/>
          </p:nvSpPr>
          <p:spPr>
            <a:xfrm rot="5400000">
              <a:off x="3833446" y="902679"/>
              <a:ext cx="597873" cy="577947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r"/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Enter your text </a:t>
              </a:r>
              <a:r>
                <a:rPr lang="en-US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here</a:t>
              </a:r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Round Same Side Corner Rectangle 5"/>
            <p:cNvSpPr/>
            <p:nvPr/>
          </p:nvSpPr>
          <p:spPr>
            <a:xfrm rot="5400000">
              <a:off x="3376242" y="187571"/>
              <a:ext cx="574433" cy="484163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r"/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Enter your text </a:t>
              </a:r>
              <a:r>
                <a:rPr lang="en-US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here</a:t>
              </a:r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Round Same Side Corner Rectangle 6"/>
            <p:cNvSpPr/>
            <p:nvPr/>
          </p:nvSpPr>
          <p:spPr>
            <a:xfrm rot="5400000">
              <a:off x="3505199" y="633047"/>
              <a:ext cx="597877" cy="512298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r"/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Enter your text </a:t>
              </a:r>
              <a:r>
                <a:rPr lang="en-US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here</a:t>
              </a:r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4356538" y="1059175"/>
            <a:ext cx="3657600" cy="3661505"/>
            <a:chOff x="323799" y="1059174"/>
            <a:chExt cx="3657600" cy="3661505"/>
          </a:xfrm>
        </p:grpSpPr>
        <p:sp>
          <p:nvSpPr>
            <p:cNvPr id="18" name="Oval 17"/>
            <p:cNvSpPr/>
            <p:nvPr/>
          </p:nvSpPr>
          <p:spPr>
            <a:xfrm>
              <a:off x="323799" y="1059174"/>
              <a:ext cx="3657600" cy="366150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506679" y="1244006"/>
              <a:ext cx="3291840" cy="329184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4"/>
          <p:cNvGrpSpPr>
            <a:grpSpLocks noChangeAspect="1"/>
          </p:cNvGrpSpPr>
          <p:nvPr/>
        </p:nvGrpSpPr>
        <p:grpSpPr bwMode="auto">
          <a:xfrm>
            <a:off x="5334611" y="1939925"/>
            <a:ext cx="1630362" cy="1911350"/>
            <a:chOff x="3353" y="1222"/>
            <a:chExt cx="1027" cy="1204"/>
          </a:xfrm>
          <a:solidFill>
            <a:schemeClr val="bg1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auto">
            <a:xfrm>
              <a:off x="4034" y="2055"/>
              <a:ext cx="340" cy="371"/>
            </a:xfrm>
            <a:custGeom>
              <a:avLst/>
              <a:gdLst>
                <a:gd name="T0" fmla="*/ 552 w 1021"/>
                <a:gd name="T1" fmla="*/ 3 h 1113"/>
                <a:gd name="T2" fmla="*/ 629 w 1021"/>
                <a:gd name="T3" fmla="*/ 27 h 1113"/>
                <a:gd name="T4" fmla="*/ 696 w 1021"/>
                <a:gd name="T5" fmla="*/ 70 h 1113"/>
                <a:gd name="T6" fmla="*/ 747 w 1021"/>
                <a:gd name="T7" fmla="*/ 131 h 1113"/>
                <a:gd name="T8" fmla="*/ 781 w 1021"/>
                <a:gd name="T9" fmla="*/ 205 h 1113"/>
                <a:gd name="T10" fmla="*/ 793 w 1021"/>
                <a:gd name="T11" fmla="*/ 288 h 1113"/>
                <a:gd name="T12" fmla="*/ 781 w 1021"/>
                <a:gd name="T13" fmla="*/ 373 h 1113"/>
                <a:gd name="T14" fmla="*/ 750 w 1021"/>
                <a:gd name="T15" fmla="*/ 456 h 1113"/>
                <a:gd name="T16" fmla="*/ 701 w 1021"/>
                <a:gd name="T17" fmla="*/ 530 h 1113"/>
                <a:gd name="T18" fmla="*/ 637 w 1021"/>
                <a:gd name="T19" fmla="*/ 588 h 1113"/>
                <a:gd name="T20" fmla="*/ 742 w 1021"/>
                <a:gd name="T21" fmla="*/ 628 h 1113"/>
                <a:gd name="T22" fmla="*/ 835 w 1021"/>
                <a:gd name="T23" fmla="*/ 685 h 1113"/>
                <a:gd name="T24" fmla="*/ 912 w 1021"/>
                <a:gd name="T25" fmla="*/ 754 h 1113"/>
                <a:gd name="T26" fmla="*/ 971 w 1021"/>
                <a:gd name="T27" fmla="*/ 831 h 1113"/>
                <a:gd name="T28" fmla="*/ 1008 w 1021"/>
                <a:gd name="T29" fmla="*/ 910 h 1113"/>
                <a:gd name="T30" fmla="*/ 1021 w 1021"/>
                <a:gd name="T31" fmla="*/ 985 h 1113"/>
                <a:gd name="T32" fmla="*/ 1008 w 1021"/>
                <a:gd name="T33" fmla="*/ 1018 h 1113"/>
                <a:gd name="T34" fmla="*/ 969 w 1021"/>
                <a:gd name="T35" fmla="*/ 1046 h 1113"/>
                <a:gd name="T36" fmla="*/ 908 w 1021"/>
                <a:gd name="T37" fmla="*/ 1069 h 1113"/>
                <a:gd name="T38" fmla="*/ 831 w 1021"/>
                <a:gd name="T39" fmla="*/ 1087 h 1113"/>
                <a:gd name="T40" fmla="*/ 741 w 1021"/>
                <a:gd name="T41" fmla="*/ 1101 h 1113"/>
                <a:gd name="T42" fmla="*/ 641 w 1021"/>
                <a:gd name="T43" fmla="*/ 1110 h 1113"/>
                <a:gd name="T44" fmla="*/ 536 w 1021"/>
                <a:gd name="T45" fmla="*/ 1113 h 1113"/>
                <a:gd name="T46" fmla="*/ 431 w 1021"/>
                <a:gd name="T47" fmla="*/ 1112 h 1113"/>
                <a:gd name="T48" fmla="*/ 330 w 1021"/>
                <a:gd name="T49" fmla="*/ 1107 h 1113"/>
                <a:gd name="T50" fmla="*/ 234 w 1021"/>
                <a:gd name="T51" fmla="*/ 1095 h 1113"/>
                <a:gd name="T52" fmla="*/ 150 w 1021"/>
                <a:gd name="T53" fmla="*/ 1079 h 1113"/>
                <a:gd name="T54" fmla="*/ 81 w 1021"/>
                <a:gd name="T55" fmla="*/ 1059 h 1113"/>
                <a:gd name="T56" fmla="*/ 30 w 1021"/>
                <a:gd name="T57" fmla="*/ 1033 h 1113"/>
                <a:gd name="T58" fmla="*/ 4 w 1021"/>
                <a:gd name="T59" fmla="*/ 1002 h 1113"/>
                <a:gd name="T60" fmla="*/ 4 w 1021"/>
                <a:gd name="T61" fmla="*/ 948 h 1113"/>
                <a:gd name="T62" fmla="*/ 29 w 1021"/>
                <a:gd name="T63" fmla="*/ 870 h 1113"/>
                <a:gd name="T64" fmla="*/ 77 w 1021"/>
                <a:gd name="T65" fmla="*/ 792 h 1113"/>
                <a:gd name="T66" fmla="*/ 145 w 1021"/>
                <a:gd name="T67" fmla="*/ 718 h 1113"/>
                <a:gd name="T68" fmla="*/ 231 w 1021"/>
                <a:gd name="T69" fmla="*/ 654 h 1113"/>
                <a:gd name="T70" fmla="*/ 331 w 1021"/>
                <a:gd name="T71" fmla="*/ 605 h 1113"/>
                <a:gd name="T72" fmla="*/ 352 w 1021"/>
                <a:gd name="T73" fmla="*/ 562 h 1113"/>
                <a:gd name="T74" fmla="*/ 295 w 1021"/>
                <a:gd name="T75" fmla="*/ 495 h 1113"/>
                <a:gd name="T76" fmla="*/ 254 w 1021"/>
                <a:gd name="T77" fmla="*/ 415 h 1113"/>
                <a:gd name="T78" fmla="*/ 231 w 1021"/>
                <a:gd name="T79" fmla="*/ 330 h 1113"/>
                <a:gd name="T80" fmla="*/ 231 w 1021"/>
                <a:gd name="T81" fmla="*/ 246 h 1113"/>
                <a:gd name="T82" fmla="*/ 255 w 1021"/>
                <a:gd name="T83" fmla="*/ 167 h 1113"/>
                <a:gd name="T84" fmla="*/ 298 w 1021"/>
                <a:gd name="T85" fmla="*/ 99 h 1113"/>
                <a:gd name="T86" fmla="*/ 358 w 1021"/>
                <a:gd name="T87" fmla="*/ 47 h 1113"/>
                <a:gd name="T88" fmla="*/ 429 w 1021"/>
                <a:gd name="T89" fmla="*/ 12 h 1113"/>
                <a:gd name="T90" fmla="*/ 511 w 1021"/>
                <a:gd name="T91" fmla="*/ 0 h 1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021" h="1113">
                  <a:moveTo>
                    <a:pt x="511" y="0"/>
                  </a:moveTo>
                  <a:lnTo>
                    <a:pt x="552" y="3"/>
                  </a:lnTo>
                  <a:lnTo>
                    <a:pt x="592" y="12"/>
                  </a:lnTo>
                  <a:lnTo>
                    <a:pt x="629" y="27"/>
                  </a:lnTo>
                  <a:lnTo>
                    <a:pt x="664" y="47"/>
                  </a:lnTo>
                  <a:lnTo>
                    <a:pt x="696" y="70"/>
                  </a:lnTo>
                  <a:lnTo>
                    <a:pt x="724" y="99"/>
                  </a:lnTo>
                  <a:lnTo>
                    <a:pt x="747" y="131"/>
                  </a:lnTo>
                  <a:lnTo>
                    <a:pt x="766" y="167"/>
                  </a:lnTo>
                  <a:lnTo>
                    <a:pt x="781" y="205"/>
                  </a:lnTo>
                  <a:lnTo>
                    <a:pt x="790" y="246"/>
                  </a:lnTo>
                  <a:lnTo>
                    <a:pt x="793" y="288"/>
                  </a:lnTo>
                  <a:lnTo>
                    <a:pt x="790" y="330"/>
                  </a:lnTo>
                  <a:lnTo>
                    <a:pt x="781" y="373"/>
                  </a:lnTo>
                  <a:lnTo>
                    <a:pt x="768" y="415"/>
                  </a:lnTo>
                  <a:lnTo>
                    <a:pt x="750" y="456"/>
                  </a:lnTo>
                  <a:lnTo>
                    <a:pt x="726" y="495"/>
                  </a:lnTo>
                  <a:lnTo>
                    <a:pt x="701" y="530"/>
                  </a:lnTo>
                  <a:lnTo>
                    <a:pt x="670" y="562"/>
                  </a:lnTo>
                  <a:lnTo>
                    <a:pt x="637" y="588"/>
                  </a:lnTo>
                  <a:lnTo>
                    <a:pt x="691" y="605"/>
                  </a:lnTo>
                  <a:lnTo>
                    <a:pt x="742" y="628"/>
                  </a:lnTo>
                  <a:lnTo>
                    <a:pt x="790" y="654"/>
                  </a:lnTo>
                  <a:lnTo>
                    <a:pt x="835" y="685"/>
                  </a:lnTo>
                  <a:lnTo>
                    <a:pt x="876" y="718"/>
                  </a:lnTo>
                  <a:lnTo>
                    <a:pt x="912" y="754"/>
                  </a:lnTo>
                  <a:lnTo>
                    <a:pt x="944" y="792"/>
                  </a:lnTo>
                  <a:lnTo>
                    <a:pt x="971" y="831"/>
                  </a:lnTo>
                  <a:lnTo>
                    <a:pt x="992" y="870"/>
                  </a:lnTo>
                  <a:lnTo>
                    <a:pt x="1008" y="910"/>
                  </a:lnTo>
                  <a:lnTo>
                    <a:pt x="1018" y="948"/>
                  </a:lnTo>
                  <a:lnTo>
                    <a:pt x="1021" y="985"/>
                  </a:lnTo>
                  <a:lnTo>
                    <a:pt x="1018" y="1002"/>
                  </a:lnTo>
                  <a:lnTo>
                    <a:pt x="1008" y="1018"/>
                  </a:lnTo>
                  <a:lnTo>
                    <a:pt x="991" y="1033"/>
                  </a:lnTo>
                  <a:lnTo>
                    <a:pt x="969" y="1046"/>
                  </a:lnTo>
                  <a:lnTo>
                    <a:pt x="941" y="1059"/>
                  </a:lnTo>
                  <a:lnTo>
                    <a:pt x="908" y="1069"/>
                  </a:lnTo>
                  <a:lnTo>
                    <a:pt x="871" y="1079"/>
                  </a:lnTo>
                  <a:lnTo>
                    <a:pt x="831" y="1087"/>
                  </a:lnTo>
                  <a:lnTo>
                    <a:pt x="787" y="1095"/>
                  </a:lnTo>
                  <a:lnTo>
                    <a:pt x="741" y="1101"/>
                  </a:lnTo>
                  <a:lnTo>
                    <a:pt x="692" y="1107"/>
                  </a:lnTo>
                  <a:lnTo>
                    <a:pt x="641" y="1110"/>
                  </a:lnTo>
                  <a:lnTo>
                    <a:pt x="590" y="1112"/>
                  </a:lnTo>
                  <a:lnTo>
                    <a:pt x="536" y="1113"/>
                  </a:lnTo>
                  <a:lnTo>
                    <a:pt x="484" y="1113"/>
                  </a:lnTo>
                  <a:lnTo>
                    <a:pt x="431" y="1112"/>
                  </a:lnTo>
                  <a:lnTo>
                    <a:pt x="380" y="1110"/>
                  </a:lnTo>
                  <a:lnTo>
                    <a:pt x="330" y="1107"/>
                  </a:lnTo>
                  <a:lnTo>
                    <a:pt x="281" y="1101"/>
                  </a:lnTo>
                  <a:lnTo>
                    <a:pt x="234" y="1095"/>
                  </a:lnTo>
                  <a:lnTo>
                    <a:pt x="190" y="1087"/>
                  </a:lnTo>
                  <a:lnTo>
                    <a:pt x="150" y="1079"/>
                  </a:lnTo>
                  <a:lnTo>
                    <a:pt x="113" y="1069"/>
                  </a:lnTo>
                  <a:lnTo>
                    <a:pt x="81" y="1059"/>
                  </a:lnTo>
                  <a:lnTo>
                    <a:pt x="53" y="1046"/>
                  </a:lnTo>
                  <a:lnTo>
                    <a:pt x="30" y="1033"/>
                  </a:lnTo>
                  <a:lnTo>
                    <a:pt x="14" y="1018"/>
                  </a:lnTo>
                  <a:lnTo>
                    <a:pt x="4" y="1002"/>
                  </a:lnTo>
                  <a:lnTo>
                    <a:pt x="0" y="985"/>
                  </a:lnTo>
                  <a:lnTo>
                    <a:pt x="4" y="948"/>
                  </a:lnTo>
                  <a:lnTo>
                    <a:pt x="12" y="910"/>
                  </a:lnTo>
                  <a:lnTo>
                    <a:pt x="29" y="870"/>
                  </a:lnTo>
                  <a:lnTo>
                    <a:pt x="50" y="831"/>
                  </a:lnTo>
                  <a:lnTo>
                    <a:pt x="77" y="792"/>
                  </a:lnTo>
                  <a:lnTo>
                    <a:pt x="110" y="754"/>
                  </a:lnTo>
                  <a:lnTo>
                    <a:pt x="145" y="718"/>
                  </a:lnTo>
                  <a:lnTo>
                    <a:pt x="187" y="685"/>
                  </a:lnTo>
                  <a:lnTo>
                    <a:pt x="231" y="654"/>
                  </a:lnTo>
                  <a:lnTo>
                    <a:pt x="279" y="628"/>
                  </a:lnTo>
                  <a:lnTo>
                    <a:pt x="331" y="605"/>
                  </a:lnTo>
                  <a:lnTo>
                    <a:pt x="384" y="588"/>
                  </a:lnTo>
                  <a:lnTo>
                    <a:pt x="352" y="562"/>
                  </a:lnTo>
                  <a:lnTo>
                    <a:pt x="322" y="530"/>
                  </a:lnTo>
                  <a:lnTo>
                    <a:pt x="295" y="495"/>
                  </a:lnTo>
                  <a:lnTo>
                    <a:pt x="272" y="456"/>
                  </a:lnTo>
                  <a:lnTo>
                    <a:pt x="254" y="415"/>
                  </a:lnTo>
                  <a:lnTo>
                    <a:pt x="240" y="373"/>
                  </a:lnTo>
                  <a:lnTo>
                    <a:pt x="231" y="330"/>
                  </a:lnTo>
                  <a:lnTo>
                    <a:pt x="229" y="288"/>
                  </a:lnTo>
                  <a:lnTo>
                    <a:pt x="231" y="246"/>
                  </a:lnTo>
                  <a:lnTo>
                    <a:pt x="240" y="205"/>
                  </a:lnTo>
                  <a:lnTo>
                    <a:pt x="255" y="167"/>
                  </a:lnTo>
                  <a:lnTo>
                    <a:pt x="274" y="131"/>
                  </a:lnTo>
                  <a:lnTo>
                    <a:pt x="298" y="99"/>
                  </a:lnTo>
                  <a:lnTo>
                    <a:pt x="325" y="70"/>
                  </a:lnTo>
                  <a:lnTo>
                    <a:pt x="358" y="47"/>
                  </a:lnTo>
                  <a:lnTo>
                    <a:pt x="392" y="27"/>
                  </a:lnTo>
                  <a:lnTo>
                    <a:pt x="429" y="12"/>
                  </a:lnTo>
                  <a:lnTo>
                    <a:pt x="469" y="3"/>
                  </a:lnTo>
                  <a:lnTo>
                    <a:pt x="5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/>
            <p:cNvSpPr>
              <a:spLocks/>
            </p:cNvSpPr>
            <p:nvPr/>
          </p:nvSpPr>
          <p:spPr bwMode="auto">
            <a:xfrm>
              <a:off x="3505" y="1268"/>
              <a:ext cx="153" cy="170"/>
            </a:xfrm>
            <a:custGeom>
              <a:avLst/>
              <a:gdLst>
                <a:gd name="T0" fmla="*/ 229 w 458"/>
                <a:gd name="T1" fmla="*/ 0 h 510"/>
                <a:gd name="T2" fmla="*/ 266 w 458"/>
                <a:gd name="T3" fmla="*/ 3 h 510"/>
                <a:gd name="T4" fmla="*/ 300 w 458"/>
                <a:gd name="T5" fmla="*/ 12 h 510"/>
                <a:gd name="T6" fmla="*/ 334 w 458"/>
                <a:gd name="T7" fmla="*/ 25 h 510"/>
                <a:gd name="T8" fmla="*/ 364 w 458"/>
                <a:gd name="T9" fmla="*/ 45 h 510"/>
                <a:gd name="T10" fmla="*/ 390 w 458"/>
                <a:gd name="T11" fmla="*/ 67 h 510"/>
                <a:gd name="T12" fmla="*/ 413 w 458"/>
                <a:gd name="T13" fmla="*/ 95 h 510"/>
                <a:gd name="T14" fmla="*/ 432 w 458"/>
                <a:gd name="T15" fmla="*/ 125 h 510"/>
                <a:gd name="T16" fmla="*/ 445 w 458"/>
                <a:gd name="T17" fmla="*/ 158 h 510"/>
                <a:gd name="T18" fmla="*/ 454 w 458"/>
                <a:gd name="T19" fmla="*/ 195 h 510"/>
                <a:gd name="T20" fmla="*/ 458 w 458"/>
                <a:gd name="T21" fmla="*/ 232 h 510"/>
                <a:gd name="T22" fmla="*/ 454 w 458"/>
                <a:gd name="T23" fmla="*/ 268 h 510"/>
                <a:gd name="T24" fmla="*/ 448 w 458"/>
                <a:gd name="T25" fmla="*/ 304 h 510"/>
                <a:gd name="T26" fmla="*/ 435 w 458"/>
                <a:gd name="T27" fmla="*/ 339 h 510"/>
                <a:gd name="T28" fmla="*/ 420 w 458"/>
                <a:gd name="T29" fmla="*/ 372 h 510"/>
                <a:gd name="T30" fmla="*/ 401 w 458"/>
                <a:gd name="T31" fmla="*/ 404 h 510"/>
                <a:gd name="T32" fmla="*/ 378 w 458"/>
                <a:gd name="T33" fmla="*/ 434 h 510"/>
                <a:gd name="T34" fmla="*/ 353 w 458"/>
                <a:gd name="T35" fmla="*/ 460 h 510"/>
                <a:gd name="T36" fmla="*/ 325 w 458"/>
                <a:gd name="T37" fmla="*/ 480 h 510"/>
                <a:gd name="T38" fmla="*/ 295 w 458"/>
                <a:gd name="T39" fmla="*/ 496 h 510"/>
                <a:gd name="T40" fmla="*/ 262 w 458"/>
                <a:gd name="T41" fmla="*/ 506 h 510"/>
                <a:gd name="T42" fmla="*/ 229 w 458"/>
                <a:gd name="T43" fmla="*/ 510 h 510"/>
                <a:gd name="T44" fmla="*/ 195 w 458"/>
                <a:gd name="T45" fmla="*/ 506 h 510"/>
                <a:gd name="T46" fmla="*/ 163 w 458"/>
                <a:gd name="T47" fmla="*/ 496 h 510"/>
                <a:gd name="T48" fmla="*/ 133 w 458"/>
                <a:gd name="T49" fmla="*/ 480 h 510"/>
                <a:gd name="T50" fmla="*/ 104 w 458"/>
                <a:gd name="T51" fmla="*/ 460 h 510"/>
                <a:gd name="T52" fmla="*/ 79 w 458"/>
                <a:gd name="T53" fmla="*/ 434 h 510"/>
                <a:gd name="T54" fmla="*/ 56 w 458"/>
                <a:gd name="T55" fmla="*/ 404 h 510"/>
                <a:gd name="T56" fmla="*/ 37 w 458"/>
                <a:gd name="T57" fmla="*/ 372 h 510"/>
                <a:gd name="T58" fmla="*/ 21 w 458"/>
                <a:gd name="T59" fmla="*/ 339 h 510"/>
                <a:gd name="T60" fmla="*/ 10 w 458"/>
                <a:gd name="T61" fmla="*/ 304 h 510"/>
                <a:gd name="T62" fmla="*/ 2 w 458"/>
                <a:gd name="T63" fmla="*/ 268 h 510"/>
                <a:gd name="T64" fmla="*/ 0 w 458"/>
                <a:gd name="T65" fmla="*/ 232 h 510"/>
                <a:gd name="T66" fmla="*/ 3 w 458"/>
                <a:gd name="T67" fmla="*/ 195 h 510"/>
                <a:gd name="T68" fmla="*/ 12 w 458"/>
                <a:gd name="T69" fmla="*/ 158 h 510"/>
                <a:gd name="T70" fmla="*/ 25 w 458"/>
                <a:gd name="T71" fmla="*/ 125 h 510"/>
                <a:gd name="T72" fmla="*/ 44 w 458"/>
                <a:gd name="T73" fmla="*/ 95 h 510"/>
                <a:gd name="T74" fmla="*/ 67 w 458"/>
                <a:gd name="T75" fmla="*/ 67 h 510"/>
                <a:gd name="T76" fmla="*/ 94 w 458"/>
                <a:gd name="T77" fmla="*/ 45 h 510"/>
                <a:gd name="T78" fmla="*/ 124 w 458"/>
                <a:gd name="T79" fmla="*/ 25 h 510"/>
                <a:gd name="T80" fmla="*/ 156 w 458"/>
                <a:gd name="T81" fmla="*/ 12 h 510"/>
                <a:gd name="T82" fmla="*/ 192 w 458"/>
                <a:gd name="T83" fmla="*/ 3 h 510"/>
                <a:gd name="T84" fmla="*/ 229 w 458"/>
                <a:gd name="T85" fmla="*/ 0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58" h="510">
                  <a:moveTo>
                    <a:pt x="229" y="0"/>
                  </a:moveTo>
                  <a:lnTo>
                    <a:pt x="266" y="3"/>
                  </a:lnTo>
                  <a:lnTo>
                    <a:pt x="300" y="12"/>
                  </a:lnTo>
                  <a:lnTo>
                    <a:pt x="334" y="25"/>
                  </a:lnTo>
                  <a:lnTo>
                    <a:pt x="364" y="45"/>
                  </a:lnTo>
                  <a:lnTo>
                    <a:pt x="390" y="67"/>
                  </a:lnTo>
                  <a:lnTo>
                    <a:pt x="413" y="95"/>
                  </a:lnTo>
                  <a:lnTo>
                    <a:pt x="432" y="125"/>
                  </a:lnTo>
                  <a:lnTo>
                    <a:pt x="445" y="158"/>
                  </a:lnTo>
                  <a:lnTo>
                    <a:pt x="454" y="195"/>
                  </a:lnTo>
                  <a:lnTo>
                    <a:pt x="458" y="232"/>
                  </a:lnTo>
                  <a:lnTo>
                    <a:pt x="454" y="268"/>
                  </a:lnTo>
                  <a:lnTo>
                    <a:pt x="448" y="304"/>
                  </a:lnTo>
                  <a:lnTo>
                    <a:pt x="435" y="339"/>
                  </a:lnTo>
                  <a:lnTo>
                    <a:pt x="420" y="372"/>
                  </a:lnTo>
                  <a:lnTo>
                    <a:pt x="401" y="404"/>
                  </a:lnTo>
                  <a:lnTo>
                    <a:pt x="378" y="434"/>
                  </a:lnTo>
                  <a:lnTo>
                    <a:pt x="353" y="460"/>
                  </a:lnTo>
                  <a:lnTo>
                    <a:pt x="325" y="480"/>
                  </a:lnTo>
                  <a:lnTo>
                    <a:pt x="295" y="496"/>
                  </a:lnTo>
                  <a:lnTo>
                    <a:pt x="262" y="506"/>
                  </a:lnTo>
                  <a:lnTo>
                    <a:pt x="229" y="510"/>
                  </a:lnTo>
                  <a:lnTo>
                    <a:pt x="195" y="506"/>
                  </a:lnTo>
                  <a:lnTo>
                    <a:pt x="163" y="496"/>
                  </a:lnTo>
                  <a:lnTo>
                    <a:pt x="133" y="480"/>
                  </a:lnTo>
                  <a:lnTo>
                    <a:pt x="104" y="460"/>
                  </a:lnTo>
                  <a:lnTo>
                    <a:pt x="79" y="434"/>
                  </a:lnTo>
                  <a:lnTo>
                    <a:pt x="56" y="404"/>
                  </a:lnTo>
                  <a:lnTo>
                    <a:pt x="37" y="372"/>
                  </a:lnTo>
                  <a:lnTo>
                    <a:pt x="21" y="339"/>
                  </a:lnTo>
                  <a:lnTo>
                    <a:pt x="10" y="304"/>
                  </a:lnTo>
                  <a:lnTo>
                    <a:pt x="2" y="268"/>
                  </a:lnTo>
                  <a:lnTo>
                    <a:pt x="0" y="232"/>
                  </a:lnTo>
                  <a:lnTo>
                    <a:pt x="3" y="195"/>
                  </a:lnTo>
                  <a:lnTo>
                    <a:pt x="12" y="158"/>
                  </a:lnTo>
                  <a:lnTo>
                    <a:pt x="25" y="125"/>
                  </a:lnTo>
                  <a:lnTo>
                    <a:pt x="44" y="95"/>
                  </a:lnTo>
                  <a:lnTo>
                    <a:pt x="67" y="67"/>
                  </a:lnTo>
                  <a:lnTo>
                    <a:pt x="94" y="45"/>
                  </a:lnTo>
                  <a:lnTo>
                    <a:pt x="124" y="25"/>
                  </a:lnTo>
                  <a:lnTo>
                    <a:pt x="156" y="12"/>
                  </a:lnTo>
                  <a:lnTo>
                    <a:pt x="192" y="3"/>
                  </a:lnTo>
                  <a:lnTo>
                    <a:pt x="2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/>
            <p:cNvSpPr>
              <a:spLocks noEditPoints="1"/>
            </p:cNvSpPr>
            <p:nvPr/>
          </p:nvSpPr>
          <p:spPr bwMode="auto">
            <a:xfrm>
              <a:off x="3353" y="1222"/>
              <a:ext cx="1027" cy="1204"/>
            </a:xfrm>
            <a:custGeom>
              <a:avLst/>
              <a:gdLst>
                <a:gd name="T0" fmla="*/ 1468 w 3082"/>
                <a:gd name="T1" fmla="*/ 350 h 3612"/>
                <a:gd name="T2" fmla="*/ 1570 w 3082"/>
                <a:gd name="T3" fmla="*/ 969 h 3612"/>
                <a:gd name="T4" fmla="*/ 1480 w 3082"/>
                <a:gd name="T5" fmla="*/ 1074 h 3612"/>
                <a:gd name="T6" fmla="*/ 1492 w 3082"/>
                <a:gd name="T7" fmla="*/ 1392 h 3612"/>
                <a:gd name="T8" fmla="*/ 2977 w 3082"/>
                <a:gd name="T9" fmla="*/ 1392 h 3612"/>
                <a:gd name="T10" fmla="*/ 2977 w 3082"/>
                <a:gd name="T11" fmla="*/ 292 h 3612"/>
                <a:gd name="T12" fmla="*/ 2271 w 3082"/>
                <a:gd name="T13" fmla="*/ 12 h 3612"/>
                <a:gd name="T14" fmla="*/ 2983 w 3082"/>
                <a:gd name="T15" fmla="*/ 198 h 3612"/>
                <a:gd name="T16" fmla="*/ 3082 w 3082"/>
                <a:gd name="T17" fmla="*/ 1334 h 3612"/>
                <a:gd name="T18" fmla="*/ 2952 w 3082"/>
                <a:gd name="T19" fmla="*/ 1495 h 3612"/>
                <a:gd name="T20" fmla="*/ 2860 w 3082"/>
                <a:gd name="T21" fmla="*/ 2544 h 3612"/>
                <a:gd name="T22" fmla="*/ 2784 w 3082"/>
                <a:gd name="T23" fmla="*/ 2538 h 3612"/>
                <a:gd name="T24" fmla="*/ 2284 w 3082"/>
                <a:gd name="T25" fmla="*/ 2251 h 3612"/>
                <a:gd name="T26" fmla="*/ 2177 w 3082"/>
                <a:gd name="T27" fmla="*/ 2234 h 3612"/>
                <a:gd name="T28" fmla="*/ 1680 w 3082"/>
                <a:gd name="T29" fmla="*/ 2543 h 3612"/>
                <a:gd name="T30" fmla="*/ 1814 w 3082"/>
                <a:gd name="T31" fmla="*/ 2787 h 3612"/>
                <a:gd name="T32" fmla="*/ 1691 w 3082"/>
                <a:gd name="T33" fmla="*/ 3061 h 3612"/>
                <a:gd name="T34" fmla="*/ 1934 w 3082"/>
                <a:gd name="T35" fmla="*/ 3253 h 3612"/>
                <a:gd name="T36" fmla="*/ 2040 w 3082"/>
                <a:gd name="T37" fmla="*/ 3501 h 3612"/>
                <a:gd name="T38" fmla="*/ 1852 w 3082"/>
                <a:gd name="T39" fmla="*/ 3586 h 3612"/>
                <a:gd name="T40" fmla="*/ 1506 w 3082"/>
                <a:gd name="T41" fmla="*/ 3612 h 3612"/>
                <a:gd name="T42" fmla="*/ 1171 w 3082"/>
                <a:gd name="T43" fmla="*/ 3578 h 3612"/>
                <a:gd name="T44" fmla="*/ 1021 w 3082"/>
                <a:gd name="T45" fmla="*/ 3484 h 3612"/>
                <a:gd name="T46" fmla="*/ 1167 w 3082"/>
                <a:gd name="T47" fmla="*/ 3217 h 3612"/>
                <a:gd name="T48" fmla="*/ 1343 w 3082"/>
                <a:gd name="T49" fmla="*/ 3029 h 3612"/>
                <a:gd name="T50" fmla="*/ 1253 w 3082"/>
                <a:gd name="T51" fmla="*/ 2745 h 3612"/>
                <a:gd name="T52" fmla="*/ 1413 w 3082"/>
                <a:gd name="T53" fmla="*/ 2526 h 3612"/>
                <a:gd name="T54" fmla="*/ 1585 w 3082"/>
                <a:gd name="T55" fmla="*/ 2477 h 3612"/>
                <a:gd name="T56" fmla="*/ 1416 w 3082"/>
                <a:gd name="T57" fmla="*/ 1427 h 3612"/>
                <a:gd name="T58" fmla="*/ 1017 w 3082"/>
                <a:gd name="T59" fmla="*/ 922 h 3612"/>
                <a:gd name="T60" fmla="*/ 938 w 3082"/>
                <a:gd name="T61" fmla="*/ 897 h 3612"/>
                <a:gd name="T62" fmla="*/ 957 w 3082"/>
                <a:gd name="T63" fmla="*/ 2540 h 3612"/>
                <a:gd name="T64" fmla="*/ 837 w 3082"/>
                <a:gd name="T65" fmla="*/ 2533 h 3612"/>
                <a:gd name="T66" fmla="*/ 685 w 3082"/>
                <a:gd name="T67" fmla="*/ 1639 h 3612"/>
                <a:gd name="T68" fmla="*/ 597 w 3082"/>
                <a:gd name="T69" fmla="*/ 2514 h 3612"/>
                <a:gd name="T70" fmla="*/ 781 w 3082"/>
                <a:gd name="T71" fmla="*/ 2705 h 3612"/>
                <a:gd name="T72" fmla="*/ 726 w 3082"/>
                <a:gd name="T73" fmla="*/ 2994 h 3612"/>
                <a:gd name="T74" fmla="*/ 834 w 3082"/>
                <a:gd name="T75" fmla="*/ 3184 h 3612"/>
                <a:gd name="T76" fmla="*/ 1018 w 3082"/>
                <a:gd name="T77" fmla="*/ 3447 h 3612"/>
                <a:gd name="T78" fmla="*/ 908 w 3082"/>
                <a:gd name="T79" fmla="*/ 3568 h 3612"/>
                <a:gd name="T80" fmla="*/ 589 w 3082"/>
                <a:gd name="T81" fmla="*/ 3611 h 3612"/>
                <a:gd name="T82" fmla="*/ 233 w 3082"/>
                <a:gd name="T83" fmla="*/ 3594 h 3612"/>
                <a:gd name="T84" fmla="*/ 13 w 3082"/>
                <a:gd name="T85" fmla="*/ 3517 h 3612"/>
                <a:gd name="T86" fmla="*/ 77 w 3082"/>
                <a:gd name="T87" fmla="*/ 3291 h 3612"/>
                <a:gd name="T88" fmla="*/ 384 w 3082"/>
                <a:gd name="T89" fmla="*/ 3087 h 3612"/>
                <a:gd name="T90" fmla="*/ 231 w 3082"/>
                <a:gd name="T91" fmla="*/ 2829 h 3612"/>
                <a:gd name="T92" fmla="*/ 327 w 3082"/>
                <a:gd name="T93" fmla="*/ 2568 h 3612"/>
                <a:gd name="T94" fmla="*/ 431 w 3082"/>
                <a:gd name="T95" fmla="*/ 1524 h 3612"/>
                <a:gd name="T96" fmla="*/ 235 w 3082"/>
                <a:gd name="T97" fmla="*/ 1570 h 3612"/>
                <a:gd name="T98" fmla="*/ 107 w 3082"/>
                <a:gd name="T99" fmla="*/ 1555 h 3612"/>
                <a:gd name="T100" fmla="*/ 237 w 3082"/>
                <a:gd name="T101" fmla="*/ 809 h 3612"/>
                <a:gd name="T102" fmla="*/ 268 w 3082"/>
                <a:gd name="T103" fmla="*/ 763 h 3612"/>
                <a:gd name="T104" fmla="*/ 297 w 3082"/>
                <a:gd name="T105" fmla="*/ 746 h 3612"/>
                <a:gd name="T106" fmla="*/ 461 w 3082"/>
                <a:gd name="T107" fmla="*/ 699 h 3612"/>
                <a:gd name="T108" fmla="*/ 672 w 3082"/>
                <a:gd name="T109" fmla="*/ 713 h 3612"/>
                <a:gd name="T110" fmla="*/ 759 w 3082"/>
                <a:gd name="T111" fmla="*/ 673 h 3612"/>
                <a:gd name="T112" fmla="*/ 1010 w 3082"/>
                <a:gd name="T113" fmla="*/ 726 h 3612"/>
                <a:gd name="T114" fmla="*/ 1391 w 3082"/>
                <a:gd name="T115" fmla="*/ 317 h 3612"/>
                <a:gd name="T116" fmla="*/ 1549 w 3082"/>
                <a:gd name="T117" fmla="*/ 186 h 3612"/>
                <a:gd name="T118" fmla="*/ 2235 w 3082"/>
                <a:gd name="T119" fmla="*/ 0 h 3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082" h="3612">
                  <a:moveTo>
                    <a:pt x="1549" y="268"/>
                  </a:moveTo>
                  <a:lnTo>
                    <a:pt x="1528" y="270"/>
                  </a:lnTo>
                  <a:lnTo>
                    <a:pt x="1508" y="278"/>
                  </a:lnTo>
                  <a:lnTo>
                    <a:pt x="1492" y="292"/>
                  </a:lnTo>
                  <a:lnTo>
                    <a:pt x="1479" y="307"/>
                  </a:lnTo>
                  <a:lnTo>
                    <a:pt x="1471" y="328"/>
                  </a:lnTo>
                  <a:lnTo>
                    <a:pt x="1468" y="350"/>
                  </a:lnTo>
                  <a:lnTo>
                    <a:pt x="1468" y="881"/>
                  </a:lnTo>
                  <a:lnTo>
                    <a:pt x="1508" y="894"/>
                  </a:lnTo>
                  <a:lnTo>
                    <a:pt x="1527" y="903"/>
                  </a:lnTo>
                  <a:lnTo>
                    <a:pt x="1544" y="916"/>
                  </a:lnTo>
                  <a:lnTo>
                    <a:pt x="1556" y="932"/>
                  </a:lnTo>
                  <a:lnTo>
                    <a:pt x="1565" y="950"/>
                  </a:lnTo>
                  <a:lnTo>
                    <a:pt x="1570" y="969"/>
                  </a:lnTo>
                  <a:lnTo>
                    <a:pt x="1571" y="990"/>
                  </a:lnTo>
                  <a:lnTo>
                    <a:pt x="1566" y="1011"/>
                  </a:lnTo>
                  <a:lnTo>
                    <a:pt x="1556" y="1033"/>
                  </a:lnTo>
                  <a:lnTo>
                    <a:pt x="1542" y="1050"/>
                  </a:lnTo>
                  <a:lnTo>
                    <a:pt x="1523" y="1063"/>
                  </a:lnTo>
                  <a:lnTo>
                    <a:pt x="1502" y="1072"/>
                  </a:lnTo>
                  <a:lnTo>
                    <a:pt x="1480" y="1074"/>
                  </a:lnTo>
                  <a:lnTo>
                    <a:pt x="1477" y="1074"/>
                  </a:lnTo>
                  <a:lnTo>
                    <a:pt x="1472" y="1073"/>
                  </a:lnTo>
                  <a:lnTo>
                    <a:pt x="1469" y="1072"/>
                  </a:lnTo>
                  <a:lnTo>
                    <a:pt x="1469" y="1334"/>
                  </a:lnTo>
                  <a:lnTo>
                    <a:pt x="1471" y="1356"/>
                  </a:lnTo>
                  <a:lnTo>
                    <a:pt x="1480" y="1376"/>
                  </a:lnTo>
                  <a:lnTo>
                    <a:pt x="1492" y="1392"/>
                  </a:lnTo>
                  <a:lnTo>
                    <a:pt x="1508" y="1405"/>
                  </a:lnTo>
                  <a:lnTo>
                    <a:pt x="1528" y="1414"/>
                  </a:lnTo>
                  <a:lnTo>
                    <a:pt x="1549" y="1416"/>
                  </a:lnTo>
                  <a:lnTo>
                    <a:pt x="2920" y="1416"/>
                  </a:lnTo>
                  <a:lnTo>
                    <a:pt x="2941" y="1414"/>
                  </a:lnTo>
                  <a:lnTo>
                    <a:pt x="2961" y="1405"/>
                  </a:lnTo>
                  <a:lnTo>
                    <a:pt x="2977" y="1392"/>
                  </a:lnTo>
                  <a:lnTo>
                    <a:pt x="2990" y="1376"/>
                  </a:lnTo>
                  <a:lnTo>
                    <a:pt x="2998" y="1356"/>
                  </a:lnTo>
                  <a:lnTo>
                    <a:pt x="3002" y="1334"/>
                  </a:lnTo>
                  <a:lnTo>
                    <a:pt x="3002" y="350"/>
                  </a:lnTo>
                  <a:lnTo>
                    <a:pt x="2998" y="328"/>
                  </a:lnTo>
                  <a:lnTo>
                    <a:pt x="2990" y="307"/>
                  </a:lnTo>
                  <a:lnTo>
                    <a:pt x="2977" y="292"/>
                  </a:lnTo>
                  <a:lnTo>
                    <a:pt x="2961" y="278"/>
                  </a:lnTo>
                  <a:lnTo>
                    <a:pt x="2941" y="270"/>
                  </a:lnTo>
                  <a:lnTo>
                    <a:pt x="2920" y="268"/>
                  </a:lnTo>
                  <a:lnTo>
                    <a:pt x="1549" y="268"/>
                  </a:lnTo>
                  <a:close/>
                  <a:moveTo>
                    <a:pt x="2235" y="0"/>
                  </a:moveTo>
                  <a:lnTo>
                    <a:pt x="2254" y="4"/>
                  </a:lnTo>
                  <a:lnTo>
                    <a:pt x="2271" y="12"/>
                  </a:lnTo>
                  <a:lnTo>
                    <a:pt x="2283" y="25"/>
                  </a:lnTo>
                  <a:lnTo>
                    <a:pt x="2292" y="42"/>
                  </a:lnTo>
                  <a:lnTo>
                    <a:pt x="2296" y="62"/>
                  </a:lnTo>
                  <a:lnTo>
                    <a:pt x="2296" y="186"/>
                  </a:lnTo>
                  <a:lnTo>
                    <a:pt x="2920" y="186"/>
                  </a:lnTo>
                  <a:lnTo>
                    <a:pt x="2952" y="189"/>
                  </a:lnTo>
                  <a:lnTo>
                    <a:pt x="2983" y="198"/>
                  </a:lnTo>
                  <a:lnTo>
                    <a:pt x="3011" y="213"/>
                  </a:lnTo>
                  <a:lnTo>
                    <a:pt x="3034" y="234"/>
                  </a:lnTo>
                  <a:lnTo>
                    <a:pt x="3054" y="257"/>
                  </a:lnTo>
                  <a:lnTo>
                    <a:pt x="3069" y="286"/>
                  </a:lnTo>
                  <a:lnTo>
                    <a:pt x="3079" y="317"/>
                  </a:lnTo>
                  <a:lnTo>
                    <a:pt x="3082" y="350"/>
                  </a:lnTo>
                  <a:lnTo>
                    <a:pt x="3082" y="1334"/>
                  </a:lnTo>
                  <a:lnTo>
                    <a:pt x="3079" y="1367"/>
                  </a:lnTo>
                  <a:lnTo>
                    <a:pt x="3069" y="1398"/>
                  </a:lnTo>
                  <a:lnTo>
                    <a:pt x="3054" y="1427"/>
                  </a:lnTo>
                  <a:lnTo>
                    <a:pt x="3034" y="1450"/>
                  </a:lnTo>
                  <a:lnTo>
                    <a:pt x="3011" y="1471"/>
                  </a:lnTo>
                  <a:lnTo>
                    <a:pt x="2983" y="1486"/>
                  </a:lnTo>
                  <a:lnTo>
                    <a:pt x="2952" y="1495"/>
                  </a:lnTo>
                  <a:lnTo>
                    <a:pt x="2921" y="1498"/>
                  </a:lnTo>
                  <a:lnTo>
                    <a:pt x="2627" y="1498"/>
                  </a:lnTo>
                  <a:lnTo>
                    <a:pt x="2884" y="2477"/>
                  </a:lnTo>
                  <a:lnTo>
                    <a:pt x="2887" y="2497"/>
                  </a:lnTo>
                  <a:lnTo>
                    <a:pt x="2882" y="2516"/>
                  </a:lnTo>
                  <a:lnTo>
                    <a:pt x="2873" y="2532"/>
                  </a:lnTo>
                  <a:lnTo>
                    <a:pt x="2860" y="2544"/>
                  </a:lnTo>
                  <a:lnTo>
                    <a:pt x="2842" y="2554"/>
                  </a:lnTo>
                  <a:lnTo>
                    <a:pt x="2836" y="2554"/>
                  </a:lnTo>
                  <a:lnTo>
                    <a:pt x="2832" y="2555"/>
                  </a:lnTo>
                  <a:lnTo>
                    <a:pt x="2826" y="2555"/>
                  </a:lnTo>
                  <a:lnTo>
                    <a:pt x="2811" y="2554"/>
                  </a:lnTo>
                  <a:lnTo>
                    <a:pt x="2796" y="2547"/>
                  </a:lnTo>
                  <a:lnTo>
                    <a:pt x="2784" y="2538"/>
                  </a:lnTo>
                  <a:lnTo>
                    <a:pt x="2774" y="2525"/>
                  </a:lnTo>
                  <a:lnTo>
                    <a:pt x="2768" y="2509"/>
                  </a:lnTo>
                  <a:lnTo>
                    <a:pt x="2501" y="1498"/>
                  </a:lnTo>
                  <a:lnTo>
                    <a:pt x="2296" y="1498"/>
                  </a:lnTo>
                  <a:lnTo>
                    <a:pt x="2296" y="2215"/>
                  </a:lnTo>
                  <a:lnTo>
                    <a:pt x="2292" y="2234"/>
                  </a:lnTo>
                  <a:lnTo>
                    <a:pt x="2284" y="2251"/>
                  </a:lnTo>
                  <a:lnTo>
                    <a:pt x="2271" y="2265"/>
                  </a:lnTo>
                  <a:lnTo>
                    <a:pt x="2254" y="2274"/>
                  </a:lnTo>
                  <a:lnTo>
                    <a:pt x="2235" y="2277"/>
                  </a:lnTo>
                  <a:lnTo>
                    <a:pt x="2216" y="2274"/>
                  </a:lnTo>
                  <a:lnTo>
                    <a:pt x="2200" y="2265"/>
                  </a:lnTo>
                  <a:lnTo>
                    <a:pt x="2186" y="2251"/>
                  </a:lnTo>
                  <a:lnTo>
                    <a:pt x="2177" y="2234"/>
                  </a:lnTo>
                  <a:lnTo>
                    <a:pt x="2174" y="2215"/>
                  </a:lnTo>
                  <a:lnTo>
                    <a:pt x="2174" y="1498"/>
                  </a:lnTo>
                  <a:lnTo>
                    <a:pt x="1968" y="1498"/>
                  </a:lnTo>
                  <a:lnTo>
                    <a:pt x="1702" y="2509"/>
                  </a:lnTo>
                  <a:lnTo>
                    <a:pt x="1698" y="2523"/>
                  </a:lnTo>
                  <a:lnTo>
                    <a:pt x="1690" y="2534"/>
                  </a:lnTo>
                  <a:lnTo>
                    <a:pt x="1680" y="2543"/>
                  </a:lnTo>
                  <a:lnTo>
                    <a:pt x="1712" y="2567"/>
                  </a:lnTo>
                  <a:lnTo>
                    <a:pt x="1742" y="2596"/>
                  </a:lnTo>
                  <a:lnTo>
                    <a:pt x="1767" y="2627"/>
                  </a:lnTo>
                  <a:lnTo>
                    <a:pt x="1787" y="2663"/>
                  </a:lnTo>
                  <a:lnTo>
                    <a:pt x="1802" y="2701"/>
                  </a:lnTo>
                  <a:lnTo>
                    <a:pt x="1811" y="2743"/>
                  </a:lnTo>
                  <a:lnTo>
                    <a:pt x="1814" y="2787"/>
                  </a:lnTo>
                  <a:lnTo>
                    <a:pt x="1812" y="2829"/>
                  </a:lnTo>
                  <a:lnTo>
                    <a:pt x="1803" y="2872"/>
                  </a:lnTo>
                  <a:lnTo>
                    <a:pt x="1790" y="2914"/>
                  </a:lnTo>
                  <a:lnTo>
                    <a:pt x="1771" y="2955"/>
                  </a:lnTo>
                  <a:lnTo>
                    <a:pt x="1748" y="2994"/>
                  </a:lnTo>
                  <a:lnTo>
                    <a:pt x="1721" y="3029"/>
                  </a:lnTo>
                  <a:lnTo>
                    <a:pt x="1691" y="3061"/>
                  </a:lnTo>
                  <a:lnTo>
                    <a:pt x="1659" y="3087"/>
                  </a:lnTo>
                  <a:lnTo>
                    <a:pt x="1712" y="3104"/>
                  </a:lnTo>
                  <a:lnTo>
                    <a:pt x="1764" y="3127"/>
                  </a:lnTo>
                  <a:lnTo>
                    <a:pt x="1812" y="3153"/>
                  </a:lnTo>
                  <a:lnTo>
                    <a:pt x="1857" y="3184"/>
                  </a:lnTo>
                  <a:lnTo>
                    <a:pt x="1897" y="3217"/>
                  </a:lnTo>
                  <a:lnTo>
                    <a:pt x="1934" y="3253"/>
                  </a:lnTo>
                  <a:lnTo>
                    <a:pt x="1965" y="3291"/>
                  </a:lnTo>
                  <a:lnTo>
                    <a:pt x="1992" y="3329"/>
                  </a:lnTo>
                  <a:lnTo>
                    <a:pt x="2014" y="3369"/>
                  </a:lnTo>
                  <a:lnTo>
                    <a:pt x="2030" y="3409"/>
                  </a:lnTo>
                  <a:lnTo>
                    <a:pt x="2040" y="3447"/>
                  </a:lnTo>
                  <a:lnTo>
                    <a:pt x="2043" y="3484"/>
                  </a:lnTo>
                  <a:lnTo>
                    <a:pt x="2040" y="3501"/>
                  </a:lnTo>
                  <a:lnTo>
                    <a:pt x="2029" y="3517"/>
                  </a:lnTo>
                  <a:lnTo>
                    <a:pt x="2012" y="3532"/>
                  </a:lnTo>
                  <a:lnTo>
                    <a:pt x="1990" y="3545"/>
                  </a:lnTo>
                  <a:lnTo>
                    <a:pt x="1963" y="3558"/>
                  </a:lnTo>
                  <a:lnTo>
                    <a:pt x="1929" y="3568"/>
                  </a:lnTo>
                  <a:lnTo>
                    <a:pt x="1893" y="3578"/>
                  </a:lnTo>
                  <a:lnTo>
                    <a:pt x="1852" y="3586"/>
                  </a:lnTo>
                  <a:lnTo>
                    <a:pt x="1809" y="3594"/>
                  </a:lnTo>
                  <a:lnTo>
                    <a:pt x="1763" y="3600"/>
                  </a:lnTo>
                  <a:lnTo>
                    <a:pt x="1714" y="3606"/>
                  </a:lnTo>
                  <a:lnTo>
                    <a:pt x="1663" y="3609"/>
                  </a:lnTo>
                  <a:lnTo>
                    <a:pt x="1611" y="3611"/>
                  </a:lnTo>
                  <a:lnTo>
                    <a:pt x="1558" y="3612"/>
                  </a:lnTo>
                  <a:lnTo>
                    <a:pt x="1506" y="3612"/>
                  </a:lnTo>
                  <a:lnTo>
                    <a:pt x="1453" y="3611"/>
                  </a:lnTo>
                  <a:lnTo>
                    <a:pt x="1401" y="3609"/>
                  </a:lnTo>
                  <a:lnTo>
                    <a:pt x="1351" y="3606"/>
                  </a:lnTo>
                  <a:lnTo>
                    <a:pt x="1303" y="3600"/>
                  </a:lnTo>
                  <a:lnTo>
                    <a:pt x="1256" y="3594"/>
                  </a:lnTo>
                  <a:lnTo>
                    <a:pt x="1212" y="3586"/>
                  </a:lnTo>
                  <a:lnTo>
                    <a:pt x="1171" y="3578"/>
                  </a:lnTo>
                  <a:lnTo>
                    <a:pt x="1135" y="3568"/>
                  </a:lnTo>
                  <a:lnTo>
                    <a:pt x="1103" y="3558"/>
                  </a:lnTo>
                  <a:lnTo>
                    <a:pt x="1075" y="3545"/>
                  </a:lnTo>
                  <a:lnTo>
                    <a:pt x="1052" y="3532"/>
                  </a:lnTo>
                  <a:lnTo>
                    <a:pt x="1036" y="3517"/>
                  </a:lnTo>
                  <a:lnTo>
                    <a:pt x="1025" y="3501"/>
                  </a:lnTo>
                  <a:lnTo>
                    <a:pt x="1021" y="3484"/>
                  </a:lnTo>
                  <a:lnTo>
                    <a:pt x="1024" y="3447"/>
                  </a:lnTo>
                  <a:lnTo>
                    <a:pt x="1034" y="3409"/>
                  </a:lnTo>
                  <a:lnTo>
                    <a:pt x="1050" y="3369"/>
                  </a:lnTo>
                  <a:lnTo>
                    <a:pt x="1072" y="3329"/>
                  </a:lnTo>
                  <a:lnTo>
                    <a:pt x="1099" y="3291"/>
                  </a:lnTo>
                  <a:lnTo>
                    <a:pt x="1130" y="3253"/>
                  </a:lnTo>
                  <a:lnTo>
                    <a:pt x="1167" y="3217"/>
                  </a:lnTo>
                  <a:lnTo>
                    <a:pt x="1209" y="3184"/>
                  </a:lnTo>
                  <a:lnTo>
                    <a:pt x="1253" y="3153"/>
                  </a:lnTo>
                  <a:lnTo>
                    <a:pt x="1301" y="3127"/>
                  </a:lnTo>
                  <a:lnTo>
                    <a:pt x="1352" y="3104"/>
                  </a:lnTo>
                  <a:lnTo>
                    <a:pt x="1406" y="3087"/>
                  </a:lnTo>
                  <a:lnTo>
                    <a:pt x="1373" y="3061"/>
                  </a:lnTo>
                  <a:lnTo>
                    <a:pt x="1343" y="3029"/>
                  </a:lnTo>
                  <a:lnTo>
                    <a:pt x="1316" y="2994"/>
                  </a:lnTo>
                  <a:lnTo>
                    <a:pt x="1294" y="2955"/>
                  </a:lnTo>
                  <a:lnTo>
                    <a:pt x="1276" y="2914"/>
                  </a:lnTo>
                  <a:lnTo>
                    <a:pt x="1261" y="2872"/>
                  </a:lnTo>
                  <a:lnTo>
                    <a:pt x="1253" y="2829"/>
                  </a:lnTo>
                  <a:lnTo>
                    <a:pt x="1250" y="2787"/>
                  </a:lnTo>
                  <a:lnTo>
                    <a:pt x="1253" y="2745"/>
                  </a:lnTo>
                  <a:lnTo>
                    <a:pt x="1262" y="2704"/>
                  </a:lnTo>
                  <a:lnTo>
                    <a:pt x="1277" y="2665"/>
                  </a:lnTo>
                  <a:lnTo>
                    <a:pt x="1296" y="2630"/>
                  </a:lnTo>
                  <a:lnTo>
                    <a:pt x="1319" y="2598"/>
                  </a:lnTo>
                  <a:lnTo>
                    <a:pt x="1347" y="2569"/>
                  </a:lnTo>
                  <a:lnTo>
                    <a:pt x="1378" y="2546"/>
                  </a:lnTo>
                  <a:lnTo>
                    <a:pt x="1413" y="2526"/>
                  </a:lnTo>
                  <a:lnTo>
                    <a:pt x="1451" y="2511"/>
                  </a:lnTo>
                  <a:lnTo>
                    <a:pt x="1490" y="2502"/>
                  </a:lnTo>
                  <a:lnTo>
                    <a:pt x="1533" y="2499"/>
                  </a:lnTo>
                  <a:lnTo>
                    <a:pt x="1559" y="2501"/>
                  </a:lnTo>
                  <a:lnTo>
                    <a:pt x="1585" y="2505"/>
                  </a:lnTo>
                  <a:lnTo>
                    <a:pt x="1584" y="2491"/>
                  </a:lnTo>
                  <a:lnTo>
                    <a:pt x="1585" y="2477"/>
                  </a:lnTo>
                  <a:lnTo>
                    <a:pt x="1843" y="1498"/>
                  </a:lnTo>
                  <a:lnTo>
                    <a:pt x="1549" y="1498"/>
                  </a:lnTo>
                  <a:lnTo>
                    <a:pt x="1517" y="1495"/>
                  </a:lnTo>
                  <a:lnTo>
                    <a:pt x="1487" y="1486"/>
                  </a:lnTo>
                  <a:lnTo>
                    <a:pt x="1460" y="1471"/>
                  </a:lnTo>
                  <a:lnTo>
                    <a:pt x="1435" y="1450"/>
                  </a:lnTo>
                  <a:lnTo>
                    <a:pt x="1416" y="1427"/>
                  </a:lnTo>
                  <a:lnTo>
                    <a:pt x="1401" y="1398"/>
                  </a:lnTo>
                  <a:lnTo>
                    <a:pt x="1392" y="1367"/>
                  </a:lnTo>
                  <a:lnTo>
                    <a:pt x="1389" y="1334"/>
                  </a:lnTo>
                  <a:lnTo>
                    <a:pt x="1389" y="1048"/>
                  </a:lnTo>
                  <a:lnTo>
                    <a:pt x="1018" y="922"/>
                  </a:lnTo>
                  <a:lnTo>
                    <a:pt x="1017" y="922"/>
                  </a:lnTo>
                  <a:lnTo>
                    <a:pt x="1017" y="922"/>
                  </a:lnTo>
                  <a:lnTo>
                    <a:pt x="1015" y="922"/>
                  </a:lnTo>
                  <a:lnTo>
                    <a:pt x="1013" y="920"/>
                  </a:lnTo>
                  <a:lnTo>
                    <a:pt x="1005" y="917"/>
                  </a:lnTo>
                  <a:lnTo>
                    <a:pt x="994" y="914"/>
                  </a:lnTo>
                  <a:lnTo>
                    <a:pt x="979" y="909"/>
                  </a:lnTo>
                  <a:lnTo>
                    <a:pt x="960" y="903"/>
                  </a:lnTo>
                  <a:lnTo>
                    <a:pt x="938" y="897"/>
                  </a:lnTo>
                  <a:lnTo>
                    <a:pt x="938" y="1524"/>
                  </a:lnTo>
                  <a:lnTo>
                    <a:pt x="1010" y="2435"/>
                  </a:lnTo>
                  <a:lnTo>
                    <a:pt x="1009" y="2461"/>
                  </a:lnTo>
                  <a:lnTo>
                    <a:pt x="1002" y="2485"/>
                  </a:lnTo>
                  <a:lnTo>
                    <a:pt x="991" y="2507"/>
                  </a:lnTo>
                  <a:lnTo>
                    <a:pt x="976" y="2525"/>
                  </a:lnTo>
                  <a:lnTo>
                    <a:pt x="957" y="2540"/>
                  </a:lnTo>
                  <a:lnTo>
                    <a:pt x="935" y="2550"/>
                  </a:lnTo>
                  <a:lnTo>
                    <a:pt x="910" y="2555"/>
                  </a:lnTo>
                  <a:lnTo>
                    <a:pt x="906" y="2555"/>
                  </a:lnTo>
                  <a:lnTo>
                    <a:pt x="901" y="2555"/>
                  </a:lnTo>
                  <a:lnTo>
                    <a:pt x="878" y="2552"/>
                  </a:lnTo>
                  <a:lnTo>
                    <a:pt x="857" y="2546"/>
                  </a:lnTo>
                  <a:lnTo>
                    <a:pt x="837" y="2533"/>
                  </a:lnTo>
                  <a:lnTo>
                    <a:pt x="820" y="2517"/>
                  </a:lnTo>
                  <a:lnTo>
                    <a:pt x="808" y="2499"/>
                  </a:lnTo>
                  <a:lnTo>
                    <a:pt x="798" y="2477"/>
                  </a:lnTo>
                  <a:lnTo>
                    <a:pt x="793" y="2453"/>
                  </a:lnTo>
                  <a:lnTo>
                    <a:pt x="728" y="1630"/>
                  </a:lnTo>
                  <a:lnTo>
                    <a:pt x="707" y="1637"/>
                  </a:lnTo>
                  <a:lnTo>
                    <a:pt x="685" y="1639"/>
                  </a:lnTo>
                  <a:lnTo>
                    <a:pt x="662" y="1637"/>
                  </a:lnTo>
                  <a:lnTo>
                    <a:pt x="640" y="1630"/>
                  </a:lnTo>
                  <a:lnTo>
                    <a:pt x="575" y="2453"/>
                  </a:lnTo>
                  <a:lnTo>
                    <a:pt x="572" y="2472"/>
                  </a:lnTo>
                  <a:lnTo>
                    <a:pt x="566" y="2489"/>
                  </a:lnTo>
                  <a:lnTo>
                    <a:pt x="557" y="2505"/>
                  </a:lnTo>
                  <a:lnTo>
                    <a:pt x="597" y="2514"/>
                  </a:lnTo>
                  <a:lnTo>
                    <a:pt x="633" y="2529"/>
                  </a:lnTo>
                  <a:lnTo>
                    <a:pt x="667" y="2548"/>
                  </a:lnTo>
                  <a:lnTo>
                    <a:pt x="698" y="2573"/>
                  </a:lnTo>
                  <a:lnTo>
                    <a:pt x="725" y="2600"/>
                  </a:lnTo>
                  <a:lnTo>
                    <a:pt x="748" y="2632"/>
                  </a:lnTo>
                  <a:lnTo>
                    <a:pt x="767" y="2667"/>
                  </a:lnTo>
                  <a:lnTo>
                    <a:pt x="781" y="2705"/>
                  </a:lnTo>
                  <a:lnTo>
                    <a:pt x="790" y="2745"/>
                  </a:lnTo>
                  <a:lnTo>
                    <a:pt x="792" y="2787"/>
                  </a:lnTo>
                  <a:lnTo>
                    <a:pt x="790" y="2829"/>
                  </a:lnTo>
                  <a:lnTo>
                    <a:pt x="781" y="2872"/>
                  </a:lnTo>
                  <a:lnTo>
                    <a:pt x="767" y="2914"/>
                  </a:lnTo>
                  <a:lnTo>
                    <a:pt x="750" y="2955"/>
                  </a:lnTo>
                  <a:lnTo>
                    <a:pt x="726" y="2994"/>
                  </a:lnTo>
                  <a:lnTo>
                    <a:pt x="700" y="3029"/>
                  </a:lnTo>
                  <a:lnTo>
                    <a:pt x="670" y="3061"/>
                  </a:lnTo>
                  <a:lnTo>
                    <a:pt x="637" y="3087"/>
                  </a:lnTo>
                  <a:lnTo>
                    <a:pt x="690" y="3104"/>
                  </a:lnTo>
                  <a:lnTo>
                    <a:pt x="742" y="3127"/>
                  </a:lnTo>
                  <a:lnTo>
                    <a:pt x="790" y="3153"/>
                  </a:lnTo>
                  <a:lnTo>
                    <a:pt x="834" y="3184"/>
                  </a:lnTo>
                  <a:lnTo>
                    <a:pt x="875" y="3217"/>
                  </a:lnTo>
                  <a:lnTo>
                    <a:pt x="912" y="3253"/>
                  </a:lnTo>
                  <a:lnTo>
                    <a:pt x="944" y="3291"/>
                  </a:lnTo>
                  <a:lnTo>
                    <a:pt x="971" y="3329"/>
                  </a:lnTo>
                  <a:lnTo>
                    <a:pt x="992" y="3369"/>
                  </a:lnTo>
                  <a:lnTo>
                    <a:pt x="1008" y="3409"/>
                  </a:lnTo>
                  <a:lnTo>
                    <a:pt x="1018" y="3447"/>
                  </a:lnTo>
                  <a:lnTo>
                    <a:pt x="1021" y="3484"/>
                  </a:lnTo>
                  <a:lnTo>
                    <a:pt x="1018" y="3501"/>
                  </a:lnTo>
                  <a:lnTo>
                    <a:pt x="1006" y="3517"/>
                  </a:lnTo>
                  <a:lnTo>
                    <a:pt x="991" y="3532"/>
                  </a:lnTo>
                  <a:lnTo>
                    <a:pt x="969" y="3545"/>
                  </a:lnTo>
                  <a:lnTo>
                    <a:pt x="941" y="3558"/>
                  </a:lnTo>
                  <a:lnTo>
                    <a:pt x="908" y="3568"/>
                  </a:lnTo>
                  <a:lnTo>
                    <a:pt x="871" y="3578"/>
                  </a:lnTo>
                  <a:lnTo>
                    <a:pt x="831" y="3586"/>
                  </a:lnTo>
                  <a:lnTo>
                    <a:pt x="786" y="3594"/>
                  </a:lnTo>
                  <a:lnTo>
                    <a:pt x="741" y="3600"/>
                  </a:lnTo>
                  <a:lnTo>
                    <a:pt x="691" y="3606"/>
                  </a:lnTo>
                  <a:lnTo>
                    <a:pt x="641" y="3609"/>
                  </a:lnTo>
                  <a:lnTo>
                    <a:pt x="589" y="3611"/>
                  </a:lnTo>
                  <a:lnTo>
                    <a:pt x="536" y="3612"/>
                  </a:lnTo>
                  <a:lnTo>
                    <a:pt x="484" y="3612"/>
                  </a:lnTo>
                  <a:lnTo>
                    <a:pt x="431" y="3611"/>
                  </a:lnTo>
                  <a:lnTo>
                    <a:pt x="380" y="3609"/>
                  </a:lnTo>
                  <a:lnTo>
                    <a:pt x="328" y="3606"/>
                  </a:lnTo>
                  <a:lnTo>
                    <a:pt x="280" y="3600"/>
                  </a:lnTo>
                  <a:lnTo>
                    <a:pt x="233" y="3594"/>
                  </a:lnTo>
                  <a:lnTo>
                    <a:pt x="190" y="3586"/>
                  </a:lnTo>
                  <a:lnTo>
                    <a:pt x="150" y="3578"/>
                  </a:lnTo>
                  <a:lnTo>
                    <a:pt x="113" y="3568"/>
                  </a:lnTo>
                  <a:lnTo>
                    <a:pt x="80" y="3558"/>
                  </a:lnTo>
                  <a:lnTo>
                    <a:pt x="53" y="3545"/>
                  </a:lnTo>
                  <a:lnTo>
                    <a:pt x="30" y="3532"/>
                  </a:lnTo>
                  <a:lnTo>
                    <a:pt x="13" y="3517"/>
                  </a:lnTo>
                  <a:lnTo>
                    <a:pt x="3" y="3501"/>
                  </a:lnTo>
                  <a:lnTo>
                    <a:pt x="0" y="3484"/>
                  </a:lnTo>
                  <a:lnTo>
                    <a:pt x="3" y="3447"/>
                  </a:lnTo>
                  <a:lnTo>
                    <a:pt x="12" y="3409"/>
                  </a:lnTo>
                  <a:lnTo>
                    <a:pt x="29" y="3369"/>
                  </a:lnTo>
                  <a:lnTo>
                    <a:pt x="50" y="3329"/>
                  </a:lnTo>
                  <a:lnTo>
                    <a:pt x="77" y="3291"/>
                  </a:lnTo>
                  <a:lnTo>
                    <a:pt x="109" y="3253"/>
                  </a:lnTo>
                  <a:lnTo>
                    <a:pt x="145" y="3217"/>
                  </a:lnTo>
                  <a:lnTo>
                    <a:pt x="187" y="3184"/>
                  </a:lnTo>
                  <a:lnTo>
                    <a:pt x="231" y="3153"/>
                  </a:lnTo>
                  <a:lnTo>
                    <a:pt x="279" y="3127"/>
                  </a:lnTo>
                  <a:lnTo>
                    <a:pt x="331" y="3104"/>
                  </a:lnTo>
                  <a:lnTo>
                    <a:pt x="384" y="3087"/>
                  </a:lnTo>
                  <a:lnTo>
                    <a:pt x="351" y="3061"/>
                  </a:lnTo>
                  <a:lnTo>
                    <a:pt x="321" y="3029"/>
                  </a:lnTo>
                  <a:lnTo>
                    <a:pt x="295" y="2994"/>
                  </a:lnTo>
                  <a:lnTo>
                    <a:pt x="271" y="2955"/>
                  </a:lnTo>
                  <a:lnTo>
                    <a:pt x="254" y="2914"/>
                  </a:lnTo>
                  <a:lnTo>
                    <a:pt x="240" y="2872"/>
                  </a:lnTo>
                  <a:lnTo>
                    <a:pt x="231" y="2829"/>
                  </a:lnTo>
                  <a:lnTo>
                    <a:pt x="229" y="2787"/>
                  </a:lnTo>
                  <a:lnTo>
                    <a:pt x="231" y="2743"/>
                  </a:lnTo>
                  <a:lnTo>
                    <a:pt x="240" y="2703"/>
                  </a:lnTo>
                  <a:lnTo>
                    <a:pt x="256" y="2664"/>
                  </a:lnTo>
                  <a:lnTo>
                    <a:pt x="275" y="2629"/>
                  </a:lnTo>
                  <a:lnTo>
                    <a:pt x="299" y="2597"/>
                  </a:lnTo>
                  <a:lnTo>
                    <a:pt x="327" y="2568"/>
                  </a:lnTo>
                  <a:lnTo>
                    <a:pt x="360" y="2544"/>
                  </a:lnTo>
                  <a:lnTo>
                    <a:pt x="395" y="2525"/>
                  </a:lnTo>
                  <a:lnTo>
                    <a:pt x="379" y="2507"/>
                  </a:lnTo>
                  <a:lnTo>
                    <a:pt x="368" y="2485"/>
                  </a:lnTo>
                  <a:lnTo>
                    <a:pt x="361" y="2461"/>
                  </a:lnTo>
                  <a:lnTo>
                    <a:pt x="360" y="2435"/>
                  </a:lnTo>
                  <a:lnTo>
                    <a:pt x="431" y="1524"/>
                  </a:lnTo>
                  <a:lnTo>
                    <a:pt x="431" y="897"/>
                  </a:lnTo>
                  <a:lnTo>
                    <a:pt x="414" y="901"/>
                  </a:lnTo>
                  <a:lnTo>
                    <a:pt x="400" y="906"/>
                  </a:lnTo>
                  <a:lnTo>
                    <a:pt x="266" y="1517"/>
                  </a:lnTo>
                  <a:lnTo>
                    <a:pt x="259" y="1538"/>
                  </a:lnTo>
                  <a:lnTo>
                    <a:pt x="249" y="1555"/>
                  </a:lnTo>
                  <a:lnTo>
                    <a:pt x="235" y="1570"/>
                  </a:lnTo>
                  <a:lnTo>
                    <a:pt x="218" y="1580"/>
                  </a:lnTo>
                  <a:lnTo>
                    <a:pt x="199" y="1587"/>
                  </a:lnTo>
                  <a:lnTo>
                    <a:pt x="179" y="1589"/>
                  </a:lnTo>
                  <a:lnTo>
                    <a:pt x="159" y="1588"/>
                  </a:lnTo>
                  <a:lnTo>
                    <a:pt x="139" y="1580"/>
                  </a:lnTo>
                  <a:lnTo>
                    <a:pt x="122" y="1570"/>
                  </a:lnTo>
                  <a:lnTo>
                    <a:pt x="107" y="1555"/>
                  </a:lnTo>
                  <a:lnTo>
                    <a:pt x="97" y="1538"/>
                  </a:lnTo>
                  <a:lnTo>
                    <a:pt x="90" y="1519"/>
                  </a:lnTo>
                  <a:lnTo>
                    <a:pt x="88" y="1498"/>
                  </a:lnTo>
                  <a:lnTo>
                    <a:pt x="89" y="1478"/>
                  </a:lnTo>
                  <a:lnTo>
                    <a:pt x="235" y="815"/>
                  </a:lnTo>
                  <a:lnTo>
                    <a:pt x="236" y="811"/>
                  </a:lnTo>
                  <a:lnTo>
                    <a:pt x="237" y="809"/>
                  </a:lnTo>
                  <a:lnTo>
                    <a:pt x="238" y="806"/>
                  </a:lnTo>
                  <a:lnTo>
                    <a:pt x="241" y="798"/>
                  </a:lnTo>
                  <a:lnTo>
                    <a:pt x="246" y="789"/>
                  </a:lnTo>
                  <a:lnTo>
                    <a:pt x="250" y="782"/>
                  </a:lnTo>
                  <a:lnTo>
                    <a:pt x="256" y="775"/>
                  </a:lnTo>
                  <a:lnTo>
                    <a:pt x="261" y="769"/>
                  </a:lnTo>
                  <a:lnTo>
                    <a:pt x="268" y="763"/>
                  </a:lnTo>
                  <a:lnTo>
                    <a:pt x="273" y="759"/>
                  </a:lnTo>
                  <a:lnTo>
                    <a:pt x="278" y="757"/>
                  </a:lnTo>
                  <a:lnTo>
                    <a:pt x="284" y="753"/>
                  </a:lnTo>
                  <a:lnTo>
                    <a:pt x="286" y="752"/>
                  </a:lnTo>
                  <a:lnTo>
                    <a:pt x="289" y="750"/>
                  </a:lnTo>
                  <a:lnTo>
                    <a:pt x="292" y="748"/>
                  </a:lnTo>
                  <a:lnTo>
                    <a:pt x="297" y="746"/>
                  </a:lnTo>
                  <a:lnTo>
                    <a:pt x="307" y="743"/>
                  </a:lnTo>
                  <a:lnTo>
                    <a:pt x="323" y="737"/>
                  </a:lnTo>
                  <a:lnTo>
                    <a:pt x="344" y="731"/>
                  </a:lnTo>
                  <a:lnTo>
                    <a:pt x="369" y="724"/>
                  </a:lnTo>
                  <a:lnTo>
                    <a:pt x="397" y="716"/>
                  </a:lnTo>
                  <a:lnTo>
                    <a:pt x="428" y="707"/>
                  </a:lnTo>
                  <a:lnTo>
                    <a:pt x="461" y="699"/>
                  </a:lnTo>
                  <a:lnTo>
                    <a:pt x="497" y="691"/>
                  </a:lnTo>
                  <a:lnTo>
                    <a:pt x="535" y="684"/>
                  </a:lnTo>
                  <a:lnTo>
                    <a:pt x="573" y="677"/>
                  </a:lnTo>
                  <a:lnTo>
                    <a:pt x="612" y="673"/>
                  </a:lnTo>
                  <a:lnTo>
                    <a:pt x="651" y="669"/>
                  </a:lnTo>
                  <a:lnTo>
                    <a:pt x="672" y="713"/>
                  </a:lnTo>
                  <a:lnTo>
                    <a:pt x="672" y="713"/>
                  </a:lnTo>
                  <a:lnTo>
                    <a:pt x="612" y="1197"/>
                  </a:lnTo>
                  <a:lnTo>
                    <a:pt x="685" y="1325"/>
                  </a:lnTo>
                  <a:lnTo>
                    <a:pt x="756" y="1197"/>
                  </a:lnTo>
                  <a:lnTo>
                    <a:pt x="696" y="713"/>
                  </a:lnTo>
                  <a:lnTo>
                    <a:pt x="696" y="713"/>
                  </a:lnTo>
                  <a:lnTo>
                    <a:pt x="718" y="669"/>
                  </a:lnTo>
                  <a:lnTo>
                    <a:pt x="759" y="673"/>
                  </a:lnTo>
                  <a:lnTo>
                    <a:pt x="800" y="678"/>
                  </a:lnTo>
                  <a:lnTo>
                    <a:pt x="839" y="684"/>
                  </a:lnTo>
                  <a:lnTo>
                    <a:pt x="878" y="692"/>
                  </a:lnTo>
                  <a:lnTo>
                    <a:pt x="915" y="700"/>
                  </a:lnTo>
                  <a:lnTo>
                    <a:pt x="950" y="709"/>
                  </a:lnTo>
                  <a:lnTo>
                    <a:pt x="982" y="718"/>
                  </a:lnTo>
                  <a:lnTo>
                    <a:pt x="1010" y="726"/>
                  </a:lnTo>
                  <a:lnTo>
                    <a:pt x="1033" y="734"/>
                  </a:lnTo>
                  <a:lnTo>
                    <a:pt x="1053" y="740"/>
                  </a:lnTo>
                  <a:lnTo>
                    <a:pt x="1067" y="744"/>
                  </a:lnTo>
                  <a:lnTo>
                    <a:pt x="1075" y="748"/>
                  </a:lnTo>
                  <a:lnTo>
                    <a:pt x="1387" y="853"/>
                  </a:lnTo>
                  <a:lnTo>
                    <a:pt x="1387" y="350"/>
                  </a:lnTo>
                  <a:lnTo>
                    <a:pt x="1391" y="317"/>
                  </a:lnTo>
                  <a:lnTo>
                    <a:pt x="1401" y="286"/>
                  </a:lnTo>
                  <a:lnTo>
                    <a:pt x="1415" y="257"/>
                  </a:lnTo>
                  <a:lnTo>
                    <a:pt x="1435" y="234"/>
                  </a:lnTo>
                  <a:lnTo>
                    <a:pt x="1459" y="213"/>
                  </a:lnTo>
                  <a:lnTo>
                    <a:pt x="1487" y="198"/>
                  </a:lnTo>
                  <a:lnTo>
                    <a:pt x="1517" y="189"/>
                  </a:lnTo>
                  <a:lnTo>
                    <a:pt x="1549" y="186"/>
                  </a:lnTo>
                  <a:lnTo>
                    <a:pt x="2174" y="186"/>
                  </a:lnTo>
                  <a:lnTo>
                    <a:pt x="2174" y="62"/>
                  </a:lnTo>
                  <a:lnTo>
                    <a:pt x="2177" y="42"/>
                  </a:lnTo>
                  <a:lnTo>
                    <a:pt x="2186" y="25"/>
                  </a:lnTo>
                  <a:lnTo>
                    <a:pt x="2200" y="12"/>
                  </a:lnTo>
                  <a:lnTo>
                    <a:pt x="2215" y="4"/>
                  </a:lnTo>
                  <a:lnTo>
                    <a:pt x="223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700644" y="2760005"/>
            <a:ext cx="3588287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here.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</a:t>
            </a: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266" name="Picture 2" descr="Exploring Data Science Course in Pitampura - DICS Blo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548" y="1115"/>
            <a:ext cx="12213548" cy="6437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/>
          <p:cNvSpPr txBox="1"/>
          <p:nvPr/>
        </p:nvSpPr>
        <p:spPr>
          <a:xfrm>
            <a:off x="8578730" y="6494800"/>
            <a:ext cx="3613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K.Maniraj – Assistant Professor / CSE</a:t>
            </a:r>
            <a:endParaRPr lang="en-US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0" y="6476870"/>
            <a:ext cx="12192000" cy="423333"/>
            <a:chOff x="0" y="6476870"/>
            <a:chExt cx="12192000" cy="423333"/>
          </a:xfrm>
        </p:grpSpPr>
        <p:grpSp>
          <p:nvGrpSpPr>
            <p:cNvPr id="27" name="Group 26"/>
            <p:cNvGrpSpPr/>
            <p:nvPr/>
          </p:nvGrpSpPr>
          <p:grpSpPr>
            <a:xfrm>
              <a:off x="0" y="6476870"/>
              <a:ext cx="12192000" cy="423333"/>
              <a:chOff x="0" y="6434667"/>
              <a:chExt cx="12192000" cy="423333"/>
            </a:xfrm>
            <a:solidFill>
              <a:schemeClr val="accent4">
                <a:lumMod val="50000"/>
              </a:schemeClr>
            </a:solidFill>
          </p:grpSpPr>
          <p:sp>
            <p:nvSpPr>
              <p:cNvPr id="29" name="Rectangle 28"/>
              <p:cNvSpPr/>
              <p:nvPr/>
            </p:nvSpPr>
            <p:spPr>
              <a:xfrm>
                <a:off x="0" y="6434667"/>
                <a:ext cx="12192000" cy="423333"/>
              </a:xfrm>
              <a:prstGeom prst="rect">
                <a:avLst/>
              </a:prstGeom>
              <a:solidFill>
                <a:srgbClr val="2129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EX:#3</a:t>
                </a:r>
                <a:endParaRPr lang="en-US" dirty="0"/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80189" y="6461667"/>
                <a:ext cx="3613270" cy="369332"/>
              </a:xfrm>
              <a:prstGeom prst="rect">
                <a:avLst/>
              </a:prstGeom>
              <a:solidFill>
                <a:srgbClr val="21295C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CS3365 - Data Science Laboratory</a:t>
                </a:r>
                <a:endParaRPr lang="en-US" b="1" dirty="0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/>
          </p:nvSpPr>
          <p:spPr>
            <a:xfrm>
              <a:off x="8578730" y="6494800"/>
              <a:ext cx="36132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K.Maniraj – Assistant Professor / CSE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275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319371"/>
            <a:ext cx="12192000" cy="2268187"/>
          </a:xfrm>
          <a:prstGeom prst="rect">
            <a:avLst/>
          </a:prstGeom>
          <a:blipFill dpi="0" rotWithShape="1">
            <a:blip r:embed="rId2" cstate="email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-83552" b="-2521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Ex:No.#</a:t>
            </a:r>
            <a:r>
              <a:rPr lang="en-US" sz="4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  <a:endParaRPr lang="en-US" sz="4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800" b="1" dirty="0"/>
              <a:t>Apply And Explore Various Plotting Functions On U</a:t>
            </a:r>
            <a:r>
              <a:rPr lang="en-US" sz="2800" b="1" dirty="0"/>
              <a:t>CI</a:t>
            </a:r>
            <a:r>
              <a:rPr lang="en-IN" sz="2800" b="1" dirty="0"/>
              <a:t> Data </a:t>
            </a:r>
            <a:endParaRPr 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578730" y="6494800"/>
            <a:ext cx="3613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K.Maniraj – Assistant Professor / CSE</a:t>
            </a:r>
            <a:endParaRPr lang="en-US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41" name="Text 29"/>
          <p:cNvSpPr/>
          <p:nvPr/>
        </p:nvSpPr>
        <p:spPr>
          <a:xfrm>
            <a:off x="436743" y="2515306"/>
            <a:ext cx="112641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40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the Pima Indians Diabetes Dataset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42" name="Text 30"/>
          <p:cNvSpPr/>
          <p:nvPr/>
        </p:nvSpPr>
        <p:spPr>
          <a:xfrm>
            <a:off x="436743" y="3338528"/>
            <a:ext cx="1162964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2000" i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apply and explore various plotting functions using the UCI Pima Indians Diabetes Dataset for data visualization and exploratory data analysis (EDA).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43" name="Shape 31"/>
          <p:cNvSpPr/>
          <p:nvPr/>
        </p:nvSpPr>
        <p:spPr>
          <a:xfrm>
            <a:off x="609261" y="4022857"/>
            <a:ext cx="2011680" cy="0"/>
          </a:xfrm>
          <a:prstGeom prst="line">
            <a:avLst/>
          </a:prstGeom>
          <a:noFill/>
          <a:ln w="38100">
            <a:solidFill>
              <a:srgbClr val="002060"/>
            </a:solidFill>
            <a:prstDash val="solid"/>
          </a:ln>
        </p:spPr>
      </p:sp>
      <p:grpSp>
        <p:nvGrpSpPr>
          <p:cNvPr id="45" name="Group 44"/>
          <p:cNvGrpSpPr/>
          <p:nvPr/>
        </p:nvGrpSpPr>
        <p:grpSpPr>
          <a:xfrm>
            <a:off x="0" y="6476870"/>
            <a:ext cx="12192000" cy="423333"/>
            <a:chOff x="0" y="6476870"/>
            <a:chExt cx="12192000" cy="423333"/>
          </a:xfrm>
        </p:grpSpPr>
        <p:grpSp>
          <p:nvGrpSpPr>
            <p:cNvPr id="46" name="Group 45"/>
            <p:cNvGrpSpPr/>
            <p:nvPr/>
          </p:nvGrpSpPr>
          <p:grpSpPr>
            <a:xfrm>
              <a:off x="0" y="6476870"/>
              <a:ext cx="12192000" cy="423333"/>
              <a:chOff x="0" y="6434667"/>
              <a:chExt cx="12192000" cy="423333"/>
            </a:xfrm>
            <a:solidFill>
              <a:schemeClr val="accent4">
                <a:lumMod val="50000"/>
              </a:schemeClr>
            </a:solidFill>
          </p:grpSpPr>
          <p:sp>
            <p:nvSpPr>
              <p:cNvPr id="48" name="Rectangle 47"/>
              <p:cNvSpPr/>
              <p:nvPr/>
            </p:nvSpPr>
            <p:spPr>
              <a:xfrm>
                <a:off x="0" y="6434667"/>
                <a:ext cx="12192000" cy="423333"/>
              </a:xfrm>
              <a:prstGeom prst="rect">
                <a:avLst/>
              </a:prstGeom>
              <a:solidFill>
                <a:srgbClr val="2129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EX</a:t>
                </a:r>
                <a:r>
                  <a:rPr lang="en-US" dirty="0" smtClean="0"/>
                  <a:t>:#6</a:t>
                </a:r>
                <a:endParaRPr lang="en-US" dirty="0"/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80189" y="6461667"/>
                <a:ext cx="3613270" cy="369332"/>
              </a:xfrm>
              <a:prstGeom prst="rect">
                <a:avLst/>
              </a:prstGeom>
              <a:solidFill>
                <a:srgbClr val="21295C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CS3365 - Data Science Laboratory</a:t>
                </a:r>
                <a:endParaRPr lang="en-US" b="1" dirty="0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</p:grpSp>
        <p:sp>
          <p:nvSpPr>
            <p:cNvPr id="47" name="TextBox 46"/>
            <p:cNvSpPr txBox="1"/>
            <p:nvPr/>
          </p:nvSpPr>
          <p:spPr>
            <a:xfrm>
              <a:off x="8578730" y="6494800"/>
              <a:ext cx="36132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K.Maniraj – Assistant Professor / CSE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436743" y="4129996"/>
            <a:ext cx="1162964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Software Requirements</a:t>
            </a:r>
          </a:p>
          <a:p>
            <a:pPr lvl="1"/>
            <a:r>
              <a:rPr lang="en-US" sz="2000" dirty="0"/>
              <a:t>Python 3.x </a:t>
            </a:r>
          </a:p>
          <a:p>
            <a:pPr lvl="1"/>
            <a:r>
              <a:rPr lang="en-US" sz="2000" dirty="0" err="1"/>
              <a:t>Jupyter</a:t>
            </a:r>
            <a:r>
              <a:rPr lang="en-US" sz="2000" dirty="0"/>
              <a:t> Notebook / Google </a:t>
            </a:r>
            <a:r>
              <a:rPr lang="en-US" sz="2000" dirty="0" err="1"/>
              <a:t>Colab</a:t>
            </a:r>
            <a:r>
              <a:rPr lang="en-US" sz="2000" dirty="0"/>
              <a:t> </a:t>
            </a:r>
          </a:p>
          <a:p>
            <a:pPr lvl="1"/>
            <a:r>
              <a:rPr lang="en-US" sz="2000" dirty="0"/>
              <a:t>Pandas </a:t>
            </a:r>
          </a:p>
          <a:p>
            <a:pPr lvl="1"/>
            <a:r>
              <a:rPr lang="en-US" sz="2000" dirty="0" err="1"/>
              <a:t>NumPy</a:t>
            </a:r>
            <a:r>
              <a:rPr lang="en-US" sz="2000" dirty="0"/>
              <a:t> </a:t>
            </a:r>
          </a:p>
          <a:p>
            <a:pPr lvl="1"/>
            <a:r>
              <a:rPr lang="en-US" sz="2000" dirty="0" err="1"/>
              <a:t>Matplotlib</a:t>
            </a:r>
            <a:r>
              <a:rPr lang="en-US" sz="2000" dirty="0"/>
              <a:t> </a:t>
            </a:r>
          </a:p>
          <a:p>
            <a:pPr lvl="1"/>
            <a:r>
              <a:rPr lang="en-US" sz="2000" dirty="0" err="1"/>
              <a:t>Seaborn</a:t>
            </a:r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6813904" y="3655561"/>
            <a:ext cx="6096000" cy="283923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700" dirty="0">
                <a:solidFill>
                  <a:srgbClr val="002060"/>
                </a:solidFill>
                <a:latin typeface="Bahnschrift SemiBold" panose="020B0502040204020203" pitchFamily="34" charset="0"/>
              </a:rPr>
              <a:t>Setup and data cleaning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700" dirty="0" err="1">
                <a:solidFill>
                  <a:srgbClr val="002060"/>
                </a:solidFill>
                <a:latin typeface="Bahnschrift SemiBold" panose="020B0502040204020203" pitchFamily="34" charset="0"/>
              </a:rPr>
              <a:t>Univariate</a:t>
            </a:r>
            <a:r>
              <a:rPr lang="en-US" sz="1700" dirty="0">
                <a:solidFill>
                  <a:srgbClr val="002060"/>
                </a:solidFill>
                <a:latin typeface="Bahnschrift SemiBold" panose="020B0502040204020203" pitchFamily="34" charset="0"/>
              </a:rPr>
              <a:t> plots — distribution of single variables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700" dirty="0">
                <a:solidFill>
                  <a:srgbClr val="002060"/>
                </a:solidFill>
                <a:latin typeface="Bahnschrift SemiBold" panose="020B0502040204020203" pitchFamily="34" charset="0"/>
              </a:rPr>
              <a:t>Bivariate plots — relationship between two variables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700" dirty="0">
                <a:solidFill>
                  <a:srgbClr val="002060"/>
                </a:solidFill>
                <a:latin typeface="Bahnschrift SemiBold" panose="020B0502040204020203" pitchFamily="34" charset="0"/>
              </a:rPr>
              <a:t>Multivariate plots — several variables at once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700" dirty="0">
                <a:solidFill>
                  <a:srgbClr val="002060"/>
                </a:solidFill>
                <a:latin typeface="Bahnschrift SemiBold" panose="020B0502040204020203" pitchFamily="34" charset="0"/>
              </a:rPr>
              <a:t>Categorical / grouped comparison plots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700" dirty="0">
                <a:solidFill>
                  <a:srgbClr val="002060"/>
                </a:solidFill>
                <a:latin typeface="Bahnschrift SemiBold" panose="020B0502040204020203" pitchFamily="34" charset="0"/>
              </a:rPr>
              <a:t>Outlier and missing-data visualization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700" dirty="0">
                <a:solidFill>
                  <a:srgbClr val="002060"/>
                </a:solidFill>
                <a:latin typeface="Bahnschrift SemiBold" panose="020B0502040204020203" pitchFamily="34" charset="0"/>
              </a:rPr>
              <a:t>Correlation and summary visuals</a:t>
            </a:r>
          </a:p>
        </p:txBody>
      </p:sp>
    </p:spTree>
    <p:extLst>
      <p:ext uri="{BB962C8B-B14F-4D97-AF65-F5344CB8AC3E}">
        <p14:creationId xmlns:p14="http://schemas.microsoft.com/office/powerpoint/2010/main" val="4219640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212080" y="164592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here is runnable.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12080" y="2286000"/>
            <a:ext cx="6309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6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Python script — every example prints real output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6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ends with a challenge; solutions live at the bottom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6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creation, filtering, missing data, groupby, merges, reshaping, apply/map, and time series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6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separately as pandas_examples_and_challenges.py</a:t>
            </a:r>
            <a:endParaRPr lang="en-US" sz="14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815284"/>
              </p:ext>
            </p:extLst>
          </p:nvPr>
        </p:nvGraphicFramePr>
        <p:xfrm>
          <a:off x="1190659" y="265197"/>
          <a:ext cx="10330781" cy="4417065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569474"/>
                <a:gridCol w="8761307"/>
              </a:tblGrid>
              <a:tr h="49648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 smtClean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atin typeface="Bahnschrift SemiBold" panose="020B0502040204020203" pitchFamily="34" charset="0"/>
                        </a:rPr>
                        <a:t>Steps</a:t>
                      </a:r>
                      <a:endParaRPr lang="en-US" sz="2500" b="1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 marL="87027" marR="87027" marT="43513" marB="43513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atin typeface="Bahnschrift SemiBold" panose="020B0502040204020203" pitchFamily="34" charset="0"/>
                        </a:rPr>
                        <a:t>Description</a:t>
                      </a:r>
                    </a:p>
                  </a:txBody>
                  <a:tcPr marL="87027" marR="87027" marT="43513" marB="43513" anchor="ctr">
                    <a:solidFill>
                      <a:srgbClr val="0070C0"/>
                    </a:solidFill>
                  </a:tcPr>
                </a:tc>
              </a:tr>
              <a:tr h="15494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 smtClean="0">
                        <a:solidFill>
                          <a:srgbClr val="002060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 smtClean="0">
                          <a:solidFill>
                            <a:srgbClr val="FF000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Column 	                              Meaning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Pregnancies 	Number of times pregnant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Glucose 	               Plasma glucose concentration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BloodPressure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 	Diastolic blood pressure (mm Hg)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SkinThickness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 	Triceps skin fold thickness (mm)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Insulin 	               2-hour serum insulin (mu U/ml)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BMI 	               Body mass index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DiabetesPedigreeFunction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 	Genetic diabetes risk score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Age 	               Age in years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Outcome 	1 = diabetic, 0 = not diabetic</a:t>
                      </a:r>
                      <a:endParaRPr lang="en-US" sz="1700" kern="1200" dirty="0">
                        <a:solidFill>
                          <a:srgbClr val="002060"/>
                        </a:solidFill>
                        <a:latin typeface="Bahnschrift SemiBold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87027" marR="87027" marT="43513" marB="43513" anchor="ctr"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0"/>
            <a:ext cx="870857" cy="626842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4400" dirty="0"/>
          </a:p>
        </p:txBody>
      </p:sp>
      <p:grpSp>
        <p:nvGrpSpPr>
          <p:cNvPr id="10" name="Group 9"/>
          <p:cNvGrpSpPr/>
          <p:nvPr/>
        </p:nvGrpSpPr>
        <p:grpSpPr>
          <a:xfrm>
            <a:off x="0" y="6476870"/>
            <a:ext cx="12192000" cy="423333"/>
            <a:chOff x="0" y="6476870"/>
            <a:chExt cx="12192000" cy="423333"/>
          </a:xfrm>
        </p:grpSpPr>
        <p:grpSp>
          <p:nvGrpSpPr>
            <p:cNvPr id="11" name="Group 10"/>
            <p:cNvGrpSpPr/>
            <p:nvPr/>
          </p:nvGrpSpPr>
          <p:grpSpPr>
            <a:xfrm>
              <a:off x="0" y="6476870"/>
              <a:ext cx="12192000" cy="423333"/>
              <a:chOff x="0" y="6434667"/>
              <a:chExt cx="12192000" cy="423333"/>
            </a:xfrm>
            <a:solidFill>
              <a:schemeClr val="accent4">
                <a:lumMod val="50000"/>
              </a:schemeClr>
            </a:solidFill>
          </p:grpSpPr>
          <p:sp>
            <p:nvSpPr>
              <p:cNvPr id="13" name="Rectangle 12"/>
              <p:cNvSpPr/>
              <p:nvPr/>
            </p:nvSpPr>
            <p:spPr>
              <a:xfrm>
                <a:off x="0" y="6434667"/>
                <a:ext cx="12192000" cy="423333"/>
              </a:xfrm>
              <a:prstGeom prst="rect">
                <a:avLst/>
              </a:prstGeom>
              <a:solidFill>
                <a:srgbClr val="2129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EX</a:t>
                </a:r>
                <a:r>
                  <a:rPr lang="en-US" dirty="0" smtClean="0"/>
                  <a:t>:#6</a:t>
                </a:r>
                <a:endParaRPr lang="en-US" dirty="0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80189" y="6461667"/>
                <a:ext cx="3613270" cy="369332"/>
              </a:xfrm>
              <a:prstGeom prst="rect">
                <a:avLst/>
              </a:prstGeom>
              <a:solidFill>
                <a:srgbClr val="21295C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CS3365 - Data Science Laboratory</a:t>
                </a:r>
                <a:endParaRPr lang="en-US" b="1" dirty="0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</p:grpSp>
        <p:sp>
          <p:nvSpPr>
            <p:cNvPr id="12" name="TextBox 11"/>
            <p:cNvSpPr txBox="1"/>
            <p:nvPr/>
          </p:nvSpPr>
          <p:spPr>
            <a:xfrm>
              <a:off x="8578730" y="6494800"/>
              <a:ext cx="36132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K.Maniraj – Assistant Professor / CSE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9555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212080" y="164592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here is runnable.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12080" y="2286000"/>
            <a:ext cx="6309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6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Python script — every example prints real output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6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ends with a challenge; solutions live at the bottom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6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creation, filtering, missing data, groupby, merges, reshaping, apply/map, and time series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6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separately as pandas_examples_and_challenges.py</a:t>
            </a:r>
            <a:endParaRPr lang="en-US" sz="14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13206"/>
              </p:ext>
            </p:extLst>
          </p:nvPr>
        </p:nvGraphicFramePr>
        <p:xfrm>
          <a:off x="1190659" y="19664"/>
          <a:ext cx="10330781" cy="4977881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569474"/>
                <a:gridCol w="8761307"/>
              </a:tblGrid>
              <a:tr h="49648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 smtClean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atin typeface="Bahnschrift SemiBold" panose="020B0502040204020203" pitchFamily="34" charset="0"/>
                        </a:rPr>
                        <a:t>Steps</a:t>
                      </a:r>
                      <a:endParaRPr lang="en-US" sz="2500" b="1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 marL="87027" marR="87027" marT="43513" marB="43513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atin typeface="Bahnschrift SemiBold" panose="020B0502040204020203" pitchFamily="34" charset="0"/>
                        </a:rPr>
                        <a:t>Description</a:t>
                      </a:r>
                    </a:p>
                  </a:txBody>
                  <a:tcPr marL="87027" marR="87027" marT="43513" marB="43513" anchor="ctr">
                    <a:solidFill>
                      <a:srgbClr val="0070C0"/>
                    </a:solidFill>
                  </a:tcPr>
                </a:tc>
              </a:tr>
              <a:tr h="133805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1. Install</a:t>
                      </a:r>
                      <a:endParaRPr lang="en-US" sz="2000" dirty="0" smtClean="0">
                        <a:solidFill>
                          <a:srgbClr val="002060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%pip install pandas </a:t>
                      </a:r>
                      <a:r>
                        <a:rPr lang="en-US" sz="15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numpy</a:t>
                      </a:r>
                      <a:r>
                        <a:rPr lang="en-US" sz="15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5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matplotlib</a:t>
                      </a:r>
                      <a:r>
                        <a:rPr lang="en-US" sz="15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5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seaborn</a:t>
                      </a:r>
                      <a:endParaRPr lang="en-US" sz="1500" kern="1200" dirty="0">
                        <a:solidFill>
                          <a:srgbClr val="002060"/>
                        </a:solidFill>
                        <a:latin typeface="Bahnschrift SemiBold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87027" marR="87027" marT="43513" marB="43513" anchor="ctr"/>
                </a:tc>
              </a:tr>
              <a:tr h="15494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</a:rPr>
                        <a:t>2. Import Libraries</a:t>
                      </a:r>
                      <a:endParaRPr lang="en-US" sz="2000" dirty="0" smtClean="0">
                        <a:solidFill>
                          <a:srgbClr val="002060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import pandas as </a:t>
                      </a: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pd</a:t>
                      </a:r>
                      <a:endParaRPr lang="en-US" sz="1700" kern="1200" dirty="0" smtClean="0">
                        <a:solidFill>
                          <a:srgbClr val="002060"/>
                        </a:solidFill>
                        <a:latin typeface="Bahnschrift SemiBold" panose="020B0502040204020203" pitchFamily="34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import </a:t>
                      </a: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numpy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 as </a:t>
                      </a: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np</a:t>
                      </a:r>
                      <a:endParaRPr lang="en-US" sz="1700" kern="1200" dirty="0" smtClean="0">
                        <a:solidFill>
                          <a:srgbClr val="002060"/>
                        </a:solidFill>
                        <a:latin typeface="Bahnschrift SemiBold" panose="020B0502040204020203" pitchFamily="34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import </a:t>
                      </a: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matplotlib.pyplot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 as </a:t>
                      </a: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plt</a:t>
                      </a:r>
                      <a:endParaRPr lang="en-US" sz="1700" kern="1200" dirty="0" smtClean="0">
                        <a:solidFill>
                          <a:srgbClr val="002060"/>
                        </a:solidFill>
                        <a:latin typeface="Bahnschrift SemiBold" panose="020B0502040204020203" pitchFamily="34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import </a:t>
                      </a: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seaborn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 as </a:t>
                      </a: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sns</a:t>
                      </a:r>
                      <a:endParaRPr lang="en-US" sz="1700" kern="1200" dirty="0" smtClean="0">
                        <a:solidFill>
                          <a:srgbClr val="002060"/>
                        </a:solidFill>
                        <a:latin typeface="Bahnschrift SemiBold" panose="020B0502040204020203" pitchFamily="34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import </a:t>
                      </a: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missingno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 as </a:t>
                      </a: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msno</a:t>
                      </a:r>
                      <a:endParaRPr lang="en-US" sz="1700" kern="1200" dirty="0" smtClean="0">
                        <a:solidFill>
                          <a:srgbClr val="002060"/>
                        </a:solidFill>
                        <a:latin typeface="Bahnschrift SemiBold" panose="020B0502040204020203" pitchFamily="34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sns.set_style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whitegrid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')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plt.rcParams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['</a:t>
                      </a: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figure.figsize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'] = (7, 4)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pd.set_option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display.max_columns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', None)</a:t>
                      </a:r>
                      <a:endParaRPr lang="en-US" sz="1700" kern="1200" dirty="0">
                        <a:solidFill>
                          <a:srgbClr val="002060"/>
                        </a:solidFill>
                        <a:latin typeface="Bahnschrift SemiBold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87027" marR="87027" marT="43513" marB="43513" anchor="ctr"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0"/>
            <a:ext cx="870857" cy="626842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4400" dirty="0"/>
          </a:p>
        </p:txBody>
      </p:sp>
      <p:grpSp>
        <p:nvGrpSpPr>
          <p:cNvPr id="10" name="Group 9"/>
          <p:cNvGrpSpPr/>
          <p:nvPr/>
        </p:nvGrpSpPr>
        <p:grpSpPr>
          <a:xfrm>
            <a:off x="0" y="6476870"/>
            <a:ext cx="12192000" cy="423333"/>
            <a:chOff x="0" y="6476870"/>
            <a:chExt cx="12192000" cy="423333"/>
          </a:xfrm>
        </p:grpSpPr>
        <p:grpSp>
          <p:nvGrpSpPr>
            <p:cNvPr id="11" name="Group 10"/>
            <p:cNvGrpSpPr/>
            <p:nvPr/>
          </p:nvGrpSpPr>
          <p:grpSpPr>
            <a:xfrm>
              <a:off x="0" y="6476870"/>
              <a:ext cx="12192000" cy="423333"/>
              <a:chOff x="0" y="6434667"/>
              <a:chExt cx="12192000" cy="423333"/>
            </a:xfrm>
            <a:solidFill>
              <a:schemeClr val="accent4">
                <a:lumMod val="50000"/>
              </a:schemeClr>
            </a:solidFill>
          </p:grpSpPr>
          <p:sp>
            <p:nvSpPr>
              <p:cNvPr id="13" name="Rectangle 12"/>
              <p:cNvSpPr/>
              <p:nvPr/>
            </p:nvSpPr>
            <p:spPr>
              <a:xfrm>
                <a:off x="0" y="6434667"/>
                <a:ext cx="12192000" cy="423333"/>
              </a:xfrm>
              <a:prstGeom prst="rect">
                <a:avLst/>
              </a:prstGeom>
              <a:solidFill>
                <a:srgbClr val="2129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EX</a:t>
                </a:r>
                <a:r>
                  <a:rPr lang="en-US" dirty="0" smtClean="0"/>
                  <a:t>:#6</a:t>
                </a:r>
                <a:endParaRPr lang="en-US" dirty="0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80189" y="6461667"/>
                <a:ext cx="3613270" cy="369332"/>
              </a:xfrm>
              <a:prstGeom prst="rect">
                <a:avLst/>
              </a:prstGeom>
              <a:solidFill>
                <a:srgbClr val="21295C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CS3365 - Data Science Laboratory</a:t>
                </a:r>
                <a:endParaRPr lang="en-US" b="1" dirty="0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</p:grpSp>
        <p:sp>
          <p:nvSpPr>
            <p:cNvPr id="12" name="TextBox 11"/>
            <p:cNvSpPr txBox="1"/>
            <p:nvPr/>
          </p:nvSpPr>
          <p:spPr>
            <a:xfrm>
              <a:off x="8578730" y="6494800"/>
              <a:ext cx="36132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K.Maniraj – Assistant Professor / CSE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5642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212080" y="164592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here is runnable.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12080" y="2286000"/>
            <a:ext cx="6309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6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Python script — every example prints real output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6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ends with a challenge; solutions live at the bottom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6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creation, filtering, missing data, groupby, merges, reshaping, apply/map, and time series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6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separately as pandas_examples_and_challenges.py</a:t>
            </a:r>
            <a:endParaRPr lang="en-US" sz="14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234911"/>
              </p:ext>
            </p:extLst>
          </p:nvPr>
        </p:nvGraphicFramePr>
        <p:xfrm>
          <a:off x="1190659" y="19664"/>
          <a:ext cx="10330781" cy="4469706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569474"/>
                <a:gridCol w="8761307"/>
              </a:tblGrid>
              <a:tr h="49648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 smtClean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atin typeface="Bahnschrift SemiBold" panose="020B0502040204020203" pitchFamily="34" charset="0"/>
                        </a:rPr>
                        <a:t>Steps</a:t>
                      </a:r>
                      <a:endParaRPr lang="en-US" sz="2500" b="1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 marL="87027" marR="87027" marT="43513" marB="43513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atin typeface="Bahnschrift SemiBold" panose="020B0502040204020203" pitchFamily="34" charset="0"/>
                        </a:rPr>
                        <a:t>Description</a:t>
                      </a:r>
                    </a:p>
                  </a:txBody>
                  <a:tcPr marL="87027" marR="87027" marT="43513" marB="43513" anchor="ctr">
                    <a:solidFill>
                      <a:srgbClr val="0070C0"/>
                    </a:solidFill>
                  </a:tcPr>
                </a:tc>
              </a:tr>
              <a:tr h="15494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</a:rPr>
                        <a:t>3. Load and prepare the data</a:t>
                      </a:r>
                      <a:endParaRPr lang="en-US" sz="2000" dirty="0" smtClean="0">
                        <a:solidFill>
                          <a:srgbClr val="002060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url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 = 'https://raw.githubusercontent.com/</a:t>
                      </a: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jbrownlee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/Datasets/master/pima-indians-diabetes.data.csv‘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cols = ['Pregnancies','Glucose','BloodPressure','SkinThickness','Insulin',        'BMI','</a:t>
                      </a: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DiabetesPedigreeFunction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','</a:t>
                      </a: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Age','Outcome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']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try:   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df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pd.read_csv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url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, names=cols)except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Exception:    </a:t>
                      </a: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df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pd.read_csv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('pima_diabetes.csv')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zero_as_missing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 = ['Glucose', '</a:t>
                      </a: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BloodPressure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', '</a:t>
                      </a: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SkinThickness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', 'Insulin', 'BMI']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df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[</a:t>
                      </a: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zero_as_missing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] = </a:t>
                      </a: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df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[</a:t>
                      </a: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zero_as_missing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].replace(0, </a:t>
                      </a: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np.nan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df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['</a:t>
                      </a: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OutcomeLabel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'] = </a:t>
                      </a: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df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['Outcome'].map({0: 'Non-diabetic', 1: 'Diabetic'})</a:t>
                      </a:r>
                      <a:r>
                        <a:rPr lang="en-US" sz="1700" kern="1200" dirty="0" err="1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df.head</a:t>
                      </a:r>
                      <a:r>
                        <a:rPr lang="en-US" sz="1700" kern="1200" dirty="0" smtClean="0">
                          <a:solidFill>
                            <a:srgbClr val="002060"/>
                          </a:solidFill>
                          <a:latin typeface="Bahnschrift SemiBold" panose="020B0502040204020203" pitchFamily="34" charset="0"/>
                          <a:ea typeface="+mn-ea"/>
                          <a:cs typeface="+mn-cs"/>
                        </a:rPr>
                        <a:t>()</a:t>
                      </a:r>
                      <a:endParaRPr lang="en-US" sz="1700" kern="1200" dirty="0">
                        <a:solidFill>
                          <a:srgbClr val="002060"/>
                        </a:solidFill>
                        <a:latin typeface="Bahnschrift SemiBold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87027" marR="87027" marT="43513" marB="43513" anchor="ctr"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0"/>
            <a:ext cx="870857" cy="626842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4400" dirty="0"/>
          </a:p>
        </p:txBody>
      </p:sp>
      <p:grpSp>
        <p:nvGrpSpPr>
          <p:cNvPr id="10" name="Group 9"/>
          <p:cNvGrpSpPr/>
          <p:nvPr/>
        </p:nvGrpSpPr>
        <p:grpSpPr>
          <a:xfrm>
            <a:off x="0" y="6476870"/>
            <a:ext cx="12192000" cy="423333"/>
            <a:chOff x="0" y="6476870"/>
            <a:chExt cx="12192000" cy="423333"/>
          </a:xfrm>
        </p:grpSpPr>
        <p:grpSp>
          <p:nvGrpSpPr>
            <p:cNvPr id="11" name="Group 10"/>
            <p:cNvGrpSpPr/>
            <p:nvPr/>
          </p:nvGrpSpPr>
          <p:grpSpPr>
            <a:xfrm>
              <a:off x="0" y="6476870"/>
              <a:ext cx="12192000" cy="423333"/>
              <a:chOff x="0" y="6434667"/>
              <a:chExt cx="12192000" cy="423333"/>
            </a:xfrm>
            <a:solidFill>
              <a:schemeClr val="accent4">
                <a:lumMod val="50000"/>
              </a:schemeClr>
            </a:solidFill>
          </p:grpSpPr>
          <p:sp>
            <p:nvSpPr>
              <p:cNvPr id="13" name="Rectangle 12"/>
              <p:cNvSpPr/>
              <p:nvPr/>
            </p:nvSpPr>
            <p:spPr>
              <a:xfrm>
                <a:off x="0" y="6434667"/>
                <a:ext cx="12192000" cy="423333"/>
              </a:xfrm>
              <a:prstGeom prst="rect">
                <a:avLst/>
              </a:prstGeom>
              <a:solidFill>
                <a:srgbClr val="2129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EX</a:t>
                </a:r>
                <a:r>
                  <a:rPr lang="en-US" dirty="0" smtClean="0"/>
                  <a:t>:#6</a:t>
                </a:r>
                <a:endParaRPr lang="en-US" dirty="0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80189" y="6461667"/>
                <a:ext cx="3613270" cy="369332"/>
              </a:xfrm>
              <a:prstGeom prst="rect">
                <a:avLst/>
              </a:prstGeom>
              <a:solidFill>
                <a:srgbClr val="21295C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CS3365 - Data Science Laboratory</a:t>
                </a:r>
                <a:endParaRPr lang="en-US" b="1" dirty="0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</p:grpSp>
        <p:sp>
          <p:nvSpPr>
            <p:cNvPr id="12" name="TextBox 11"/>
            <p:cNvSpPr txBox="1"/>
            <p:nvPr/>
          </p:nvSpPr>
          <p:spPr>
            <a:xfrm>
              <a:off x="8578730" y="6494800"/>
              <a:ext cx="36132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K.Maniraj – Assistant Professor / CSE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3829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6476870"/>
            <a:ext cx="12192000" cy="423333"/>
            <a:chOff x="0" y="6476870"/>
            <a:chExt cx="12192000" cy="423333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6476870"/>
              <a:ext cx="12192000" cy="423333"/>
              <a:chOff x="0" y="6434667"/>
              <a:chExt cx="12192000" cy="423333"/>
            </a:xfrm>
            <a:solidFill>
              <a:schemeClr val="accent4">
                <a:lumMod val="50000"/>
              </a:schemeClr>
            </a:solidFill>
          </p:grpSpPr>
          <p:sp>
            <p:nvSpPr>
              <p:cNvPr id="47" name="Rectangle 46"/>
              <p:cNvSpPr/>
              <p:nvPr/>
            </p:nvSpPr>
            <p:spPr>
              <a:xfrm>
                <a:off x="0" y="6434667"/>
                <a:ext cx="12192000" cy="423333"/>
              </a:xfrm>
              <a:prstGeom prst="rect">
                <a:avLst/>
              </a:prstGeom>
              <a:solidFill>
                <a:srgbClr val="2129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EX</a:t>
                </a:r>
                <a:r>
                  <a:rPr lang="en-US" dirty="0" smtClean="0"/>
                  <a:t>:#6</a:t>
                </a:r>
                <a:endParaRPr lang="en-US" dirty="0"/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80189" y="6461667"/>
                <a:ext cx="3613270" cy="369332"/>
              </a:xfrm>
              <a:prstGeom prst="rect">
                <a:avLst/>
              </a:prstGeom>
              <a:solidFill>
                <a:srgbClr val="21295C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CS3365 - Data Science Laboratory</a:t>
                </a:r>
                <a:endParaRPr lang="en-US" b="1" dirty="0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</p:grpSp>
        <p:sp>
          <p:nvSpPr>
            <p:cNvPr id="46" name="TextBox 45"/>
            <p:cNvSpPr txBox="1"/>
            <p:nvPr/>
          </p:nvSpPr>
          <p:spPr>
            <a:xfrm>
              <a:off x="8578730" y="6494800"/>
              <a:ext cx="36132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K.Maniraj – Assistant Professor / CSE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2474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544</Words>
  <Application>Microsoft Office PowerPoint</Application>
  <PresentationFormat>Widescreen</PresentationFormat>
  <Paragraphs>99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Narrow</vt:lpstr>
      <vt:lpstr>Bahnschrift SemiBold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103</cp:revision>
  <dcterms:created xsi:type="dcterms:W3CDTF">2026-07-26T14:26:41Z</dcterms:created>
  <dcterms:modified xsi:type="dcterms:W3CDTF">2026-08-01T16:48:04Z</dcterms:modified>
</cp:coreProperties>
</file>